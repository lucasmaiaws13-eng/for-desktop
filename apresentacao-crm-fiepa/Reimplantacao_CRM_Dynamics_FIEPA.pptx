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2ff0dad2-113b-ad82-c3cf-039f9d5aa081}">
          <p14:sldIdLst>
            <p14:sldId id="256"/>
          </p14:sldIdLst>
        </p14:section>
        <p14:section name="Agenda" id="{0e515c6b-0d95-cca0-e47e-16bf28266bb9}">
          <p14:sldIdLst>
            <p14:sldId id="257"/>
          </p14:sldIdLst>
        </p14:section>
        <p14:section name="01 – Justificativa" id="{d9d81f20-58d9-b9b3-37ef-420fa043cfb9}">
          <p14:sldIdLst>
            <p14:sldId id="258"/>
          </p14:sldIdLst>
        </p14:section>
        <p14:section name="02 – Valor para a gestão" id="{23e4e7dd-9f60-01df-146d-b87cd2056173}">
          <p14:sldIdLst>
            <p14:sldId id="259"/>
          </p14:sldIdLst>
        </p14:section>
        <p14:section name="03 – Integrações e controle" id="{deb69b79-e388-af4a-deb8-5df5802b093a}">
          <p14:sldIdLst>
            <p14:sldId id="260"/>
          </p14:sldIdLst>
        </p14:section>
        <p14:section name="04 – Entregas" id="{a9cb0085-527d-ed3f-ddd2-f4f516c1eac4}">
          <p14:sldIdLst>
            <p14:sldId id="261"/>
          </p14:sldIdLst>
        </p14:section>
        <p14:section name="05 – Investimento" id="{bda69b7d-ff9a-d40d-b901-fcbc2e37456b}">
          <p14:sldIdLst>
            <p14:sldId id="262"/>
            <p14:sldId id="263"/>
          </p14:sldIdLst>
        </p14:section>
        <p14:section name="06 – Escopo" id="{b687d828-899b-659c-63d6-206cb6b3dcd4}">
          <p14:sldIdLst>
            <p14:sldId id="264"/>
          </p14:sldIdLst>
        </p14:section>
        <p14:section name="Encerramento" id="{721351e0-9fa5-d731-a6b2-4844503e152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Rateio por casa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A5E"/>
              </a:solidFill>
              <a:ln w="317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660C4"/>
              </a:solidFill>
              <a:ln w="317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EC5F2"/>
              </a:solidFill>
              <a:ln w="317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FIEPA</c:v>
                </c:pt>
                <c:pt idx="1">
                  <c:v>SESI</c:v>
                </c:pt>
                <c:pt idx="2">
                  <c:v>SENAI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33.33</c:v>
                </c:pt>
                <c:pt idx="1">
                  <c:v>33.33</c:v>
                </c:pt>
                <c:pt idx="2">
                  <c:v>33.33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 proposta de reimplantação do CRM Dynamics para o Sistema FIEPA, apoiada em três pilares — processo único, visão integrada e controle e gestão.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apresentação em seis blocos: justificativa, valor para a gestão, integrações e controle, entregas, investimento e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problemas do CRM atual: processo desalinhado, baixa visão gerencial e retrabalho/legado. A consequência é menor capacidade de acompanhar oportunidades, padronizar decisões e planejar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vai além da atualização técnica: cliente 360º, governança, decisão apoiada em metas e previsão, e eficiência com menos controles paralelos.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Dynamics 365 Sales é o centro: integra-se ao F&amp;SCM (contas nos dois sentidos), ao CRM Nacional da CNI, ao Outlook/Teams e ao SharePoint. A consulta por CNPJ entra na Onda 2. Segurança: segregação por entidade, perfis e hierarquia, campos sensíveis protegidos 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ondas. Onda 1 (18 semanas, ~4 meses): o núcleo comercial completo — regras, ambientes, fluxo de vendas, alçadas, Power BI, integrações e migração. Onda 2 (4 semanas, ~1 mês): painéis avançados e cadastro por CNPJ.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Opção A cobre a Onda 1 (núcleo comercial); a Opção B inclui as duas ondas. Modelo Time &amp; Materials: o faturamento acompanha as horas medidas e aprovadas.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investimento é dividido igualmente entre FIEPA, SESI e SENAI (33,33% cada) nas duas opções.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 da proposta: licenças e Azure fora do escopo; mobilização em até 40 dias úteis após aceite e assinatura; horas medidas mensalmente, com até 5 dias úteis para aprovação; sustentação pós-Onda 2 e WhatsApp fora do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 abertura para dúvidas.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IEPA-Conteudo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FIEPA-Limpo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FIEPA-Escur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PA Conteu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566928"/>
            <a:ext cx="1143000" cy="197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9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Reimplantação CRM Dynamics  ·  Sistema FIEPA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PA Limp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9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Reimplantação CRM Dynamics  ·  Sistema FIEPA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PA Escu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image" Target="../media/image-1-20.png"/><Relationship Id="rId21" Type="http://schemas.openxmlformats.org/officeDocument/2006/relationships/image" Target="../media/image-1-21.svg"/><Relationship Id="rId22" Type="http://schemas.openxmlformats.org/officeDocument/2006/relationships/image" Target="../media/image-1-22.png"/><Relationship Id="rId23" Type="http://schemas.openxmlformats.org/officeDocument/2006/relationships/image" Target="../media/image-1-23.svg"/><Relationship Id="rId24" Type="http://schemas.openxmlformats.org/officeDocument/2006/relationships/slideLayout" Target="../slideLayouts/slideLayout4.xml"/><Relationship Id="rId2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4.xml"/><Relationship Id="rId1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FIEPA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011680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PROPOSTA  ·  SISTEMA FIEPA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0574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Reimplantação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CRM Dynamics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8221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Gestão comercial integrada para o Sistema FIEPA</a:t>
            </a:r>
            <a:endParaRPr lang="en-US" sz="1800" dirty="0"/>
          </a:p>
        </p:txBody>
      </p:sp>
      <p:sp>
        <p:nvSpPr>
          <p:cNvPr id="6" name="Órbita"/>
          <p:cNvSpPr/>
          <p:nvPr/>
        </p:nvSpPr>
        <p:spPr>
          <a:xfrm>
            <a:off x="7178040" y="411480"/>
            <a:ext cx="4480560" cy="4480560"/>
          </a:xfrm>
          <a:prstGeom prst="ellipse">
            <a:avLst/>
          </a:prstGeom>
          <a:solidFill>
            <a:schemeClr val="bg1">
              <a:alpha val="4000"/>
            </a:schemeClr>
          </a:solidFill>
          <a:ln/>
        </p:spPr>
      </p:sp>
      <p:sp>
        <p:nvSpPr>
          <p:cNvPr id="7" name="Órbita"/>
          <p:cNvSpPr/>
          <p:nvPr/>
        </p:nvSpPr>
        <p:spPr>
          <a:xfrm>
            <a:off x="7498080" y="731520"/>
            <a:ext cx="3840480" cy="3840480"/>
          </a:xfrm>
          <a:prstGeom prst="ellipse">
            <a:avLst/>
          </a:prstGeom>
          <a:ln w="9525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8" name="Órbita"/>
          <p:cNvSpPr/>
          <p:nvPr/>
        </p:nvSpPr>
        <p:spPr>
          <a:xfrm>
            <a:off x="8161020" y="1394460"/>
            <a:ext cx="2514600" cy="2514600"/>
          </a:xfrm>
          <a:prstGeom prst="ellipse">
            <a:avLst/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Núcleo CRM"/>
          <p:cNvSpPr/>
          <p:nvPr/>
        </p:nvSpPr>
        <p:spPr>
          <a:xfrm>
            <a:off x="8705088" y="1938528"/>
            <a:ext cx="1426464" cy="1426464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304800" dist="50800" dir="5400000">
              <a:srgbClr val="000000">
                <a:alpha val="25000"/>
              </a:srgbClr>
            </a:outerShdw>
          </a:effectLst>
        </p:spPr>
      </p:sp>
      <p:pic>
        <p:nvPicPr>
          <p:cNvPr id="10" name="Ícone UsersThree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34272" y="2267712"/>
            <a:ext cx="768096" cy="768096"/>
          </a:xfrm>
          <a:prstGeom prst="rect">
            <a:avLst/>
          </a:prstGeom>
        </p:spPr>
      </p:pic>
      <p:sp>
        <p:nvSpPr>
          <p:cNvPr id="11" name="Órbita Handshake (círculo)"/>
          <p:cNvSpPr/>
          <p:nvPr/>
        </p:nvSpPr>
        <p:spPr>
          <a:xfrm>
            <a:off x="9116568" y="429768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2" name="Ícone Handshake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7444" y="580644"/>
            <a:ext cx="301752" cy="301752"/>
          </a:xfrm>
          <a:prstGeom prst="rect">
            <a:avLst/>
          </a:prstGeom>
        </p:spPr>
      </p:pic>
      <p:sp>
        <p:nvSpPr>
          <p:cNvPr id="13" name="Órbita ChartPieSlice (círculo)"/>
          <p:cNvSpPr/>
          <p:nvPr/>
        </p:nvSpPr>
        <p:spPr>
          <a:xfrm>
            <a:off x="10942825" y="1756621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4" name="Ícone ChartPieSlice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3701" y="1907497"/>
            <a:ext cx="301752" cy="301752"/>
          </a:xfrm>
          <a:prstGeom prst="rect">
            <a:avLst/>
          </a:prstGeom>
        </p:spPr>
      </p:pic>
      <p:sp>
        <p:nvSpPr>
          <p:cNvPr id="15" name="Órbita Target (círculo)"/>
          <p:cNvSpPr/>
          <p:nvPr/>
        </p:nvSpPr>
        <p:spPr>
          <a:xfrm>
            <a:off x="10245257" y="3903515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6" name="Ícone Target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96133" y="4054391"/>
            <a:ext cx="301752" cy="301752"/>
          </a:xfrm>
          <a:prstGeom prst="rect">
            <a:avLst/>
          </a:prstGeom>
        </p:spPr>
      </p:pic>
      <p:sp>
        <p:nvSpPr>
          <p:cNvPr id="17" name="Órbita Files (círculo)"/>
          <p:cNvSpPr/>
          <p:nvPr/>
        </p:nvSpPr>
        <p:spPr>
          <a:xfrm>
            <a:off x="7987879" y="3903515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8" name="Ícone Files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8755" y="4054391"/>
            <a:ext cx="301752" cy="301752"/>
          </a:xfrm>
          <a:prstGeom prst="rect">
            <a:avLst/>
          </a:prstGeom>
        </p:spPr>
      </p:pic>
      <p:sp>
        <p:nvSpPr>
          <p:cNvPr id="19" name="Órbita CurrencyCircleDollar (círculo)"/>
          <p:cNvSpPr/>
          <p:nvPr/>
        </p:nvSpPr>
        <p:spPr>
          <a:xfrm>
            <a:off x="7290311" y="1756621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20" name="Ícone CurrencyCircleDollar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41187" y="1907497"/>
            <a:ext cx="301752" cy="301752"/>
          </a:xfrm>
          <a:prstGeom prst="rect">
            <a:avLst/>
          </a:prstGeom>
        </p:spPr>
      </p:pic>
      <p:sp>
        <p:nvSpPr>
          <p:cNvPr id="21" name="Órbita Funnel (círculo)"/>
          <p:cNvSpPr/>
          <p:nvPr/>
        </p:nvSpPr>
        <p:spPr>
          <a:xfrm>
            <a:off x="10389484" y="2871470"/>
            <a:ext cx="420624" cy="420624"/>
          </a:xfrm>
          <a:prstGeom prst="ellipse">
            <a:avLst/>
          </a:prstGeom>
          <a:solidFill>
            <a:srgbClr val="0A2A5E"/>
          </a:solidFill>
          <a:ln w="9525">
            <a:solidFill>
              <a:srgbClr val="3FC1E8">
                <a:alpha val="70000"/>
              </a:srgbClr>
            </a:solidFill>
            <a:prstDash val="solid"/>
          </a:ln>
        </p:spPr>
      </p:sp>
      <p:pic>
        <p:nvPicPr>
          <p:cNvPr id="22" name="Ícone Funnel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94640" y="2976626"/>
            <a:ext cx="210312" cy="210312"/>
          </a:xfrm>
          <a:prstGeom prst="rect">
            <a:avLst/>
          </a:prstGeom>
        </p:spPr>
      </p:pic>
      <p:sp>
        <p:nvSpPr>
          <p:cNvPr id="23" name="Órbita ShieldCheck (círculo)"/>
          <p:cNvSpPr/>
          <p:nvPr/>
        </p:nvSpPr>
        <p:spPr>
          <a:xfrm>
            <a:off x="8026532" y="2011426"/>
            <a:ext cx="420624" cy="420624"/>
          </a:xfrm>
          <a:prstGeom prst="ellipse">
            <a:avLst/>
          </a:prstGeom>
          <a:solidFill>
            <a:srgbClr val="0A2A5E"/>
          </a:solidFill>
          <a:ln w="9525">
            <a:solidFill>
              <a:srgbClr val="3FC1E8">
                <a:alpha val="70000"/>
              </a:srgbClr>
            </a:solidFill>
            <a:prstDash val="solid"/>
          </a:ln>
        </p:spPr>
      </p:sp>
      <p:pic>
        <p:nvPicPr>
          <p:cNvPr id="24" name="Ícone ShieldCheck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31688" y="2116582"/>
            <a:ext cx="210312" cy="210312"/>
          </a:xfrm>
          <a:prstGeom prst="rect">
            <a:avLst/>
          </a:prstGeom>
        </p:spPr>
      </p:pic>
      <p:sp>
        <p:nvSpPr>
          <p:cNvPr id="25" name="Pilar 1"/>
          <p:cNvSpPr/>
          <p:nvPr/>
        </p:nvSpPr>
        <p:spPr>
          <a:xfrm>
            <a:off x="685800" y="5029200"/>
            <a:ext cx="3423818" cy="1115568"/>
          </a:xfrm>
          <a:prstGeom prst="roundRect">
            <a:avLst>
              <a:gd name="adj" fmla="val 6557"/>
            </a:avLst>
          </a:prstGeom>
          <a:solidFill>
            <a:schemeClr val="bg1">
              <a:alpha val="7000"/>
            </a:scheme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Pilar 1 (círculo)"/>
          <p:cNvSpPr/>
          <p:nvPr/>
        </p:nvSpPr>
        <p:spPr>
          <a:xfrm>
            <a:off x="960120" y="5312664"/>
            <a:ext cx="548640" cy="548640"/>
          </a:xfrm>
          <a:prstGeom prst="ellipse">
            <a:avLst/>
          </a:prstGeom>
          <a:ln w="9525">
            <a:solidFill>
              <a:srgbClr val="3FC1E8">
                <a:alpha val="80000"/>
              </a:srgbClr>
            </a:solidFill>
            <a:prstDash val="solid"/>
          </a:ln>
        </p:spPr>
      </p:sp>
      <p:pic>
        <p:nvPicPr>
          <p:cNvPr id="27" name="Ícone FlowArrow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7280" y="5449824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691640" y="5303520"/>
            <a:ext cx="2280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PROCESSO ÚNICO</a:t>
            </a:r>
            <a:endParaRPr lang="en-US" sz="1100" dirty="0"/>
          </a:p>
        </p:txBody>
      </p:sp>
      <p:sp>
        <p:nvSpPr>
          <p:cNvPr id="29" name="Text 17"/>
          <p:cNvSpPr txBox="1"/>
          <p:nvPr/>
        </p:nvSpPr>
        <p:spPr>
          <a:xfrm>
            <a:off x="1691640" y="557784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Etapas e regras comerciais comuns</a:t>
            </a:r>
            <a:endParaRPr lang="en-US" sz="1400" dirty="0"/>
          </a:p>
        </p:txBody>
      </p:sp>
      <p:sp>
        <p:nvSpPr>
          <p:cNvPr id="30" name="Pilar 2"/>
          <p:cNvSpPr/>
          <p:nvPr/>
        </p:nvSpPr>
        <p:spPr>
          <a:xfrm>
            <a:off x="4383938" y="5029200"/>
            <a:ext cx="3423818" cy="1115568"/>
          </a:xfrm>
          <a:prstGeom prst="roundRect">
            <a:avLst>
              <a:gd name="adj" fmla="val 6557"/>
            </a:avLst>
          </a:prstGeom>
          <a:solidFill>
            <a:schemeClr val="bg1">
              <a:alpha val="7000"/>
            </a:scheme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Pilar 2 (círculo)"/>
          <p:cNvSpPr/>
          <p:nvPr/>
        </p:nvSpPr>
        <p:spPr>
          <a:xfrm>
            <a:off x="4658258" y="5312664"/>
            <a:ext cx="548640" cy="548640"/>
          </a:xfrm>
          <a:prstGeom prst="ellipse">
            <a:avLst/>
          </a:prstGeom>
          <a:ln w="9525">
            <a:solidFill>
              <a:srgbClr val="3FC1E8">
                <a:alpha val="80000"/>
              </a:srgbClr>
            </a:solidFill>
            <a:prstDash val="solid"/>
          </a:ln>
        </p:spPr>
      </p:sp>
      <p:pic>
        <p:nvPicPr>
          <p:cNvPr id="32" name="Ícone Intersect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95418" y="5449824"/>
            <a:ext cx="274320" cy="27432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5389778" y="5303520"/>
            <a:ext cx="2280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VISÃO INTEGRADA</a:t>
            </a:r>
            <a:endParaRPr lang="en-US" sz="1100" dirty="0"/>
          </a:p>
        </p:txBody>
      </p:sp>
      <p:sp>
        <p:nvSpPr>
          <p:cNvPr id="34" name="Text 21"/>
          <p:cNvSpPr txBox="1"/>
          <p:nvPr/>
        </p:nvSpPr>
        <p:spPr>
          <a:xfrm>
            <a:off x="5389778" y="557784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 clientes e oportunidades</a:t>
            </a:r>
            <a:endParaRPr lang="en-US" sz="1400" dirty="0"/>
          </a:p>
        </p:txBody>
      </p:sp>
      <p:sp>
        <p:nvSpPr>
          <p:cNvPr id="35" name="Pilar 3"/>
          <p:cNvSpPr/>
          <p:nvPr/>
        </p:nvSpPr>
        <p:spPr>
          <a:xfrm>
            <a:off x="8082077" y="5029200"/>
            <a:ext cx="3423818" cy="1115568"/>
          </a:xfrm>
          <a:prstGeom prst="roundRect">
            <a:avLst>
              <a:gd name="adj" fmla="val 6557"/>
            </a:avLst>
          </a:prstGeom>
          <a:solidFill>
            <a:schemeClr val="bg1">
              <a:alpha val="7000"/>
            </a:scheme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Pilar 3 (círculo)"/>
          <p:cNvSpPr/>
          <p:nvPr/>
        </p:nvSpPr>
        <p:spPr>
          <a:xfrm>
            <a:off x="8356397" y="5312664"/>
            <a:ext cx="548640" cy="548640"/>
          </a:xfrm>
          <a:prstGeom prst="ellipse">
            <a:avLst/>
          </a:prstGeom>
          <a:ln w="9525">
            <a:solidFill>
              <a:srgbClr val="3FC1E8">
                <a:alpha val="80000"/>
              </a:srgbClr>
            </a:solidFill>
            <a:prstDash val="solid"/>
          </a:ln>
        </p:spPr>
      </p:sp>
      <p:pic>
        <p:nvPicPr>
          <p:cNvPr id="37" name="Ícone Gauge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93557" y="5449824"/>
            <a:ext cx="274320" cy="27432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9087917" y="5303520"/>
            <a:ext cx="2280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CONTROLE E GESTÃO</a:t>
            </a:r>
            <a:endParaRPr lang="en-US" sz="1100" dirty="0"/>
          </a:p>
        </p:txBody>
      </p:sp>
      <p:sp>
        <p:nvSpPr>
          <p:cNvPr id="39" name="Text 25"/>
          <p:cNvSpPr txBox="1"/>
          <p:nvPr/>
        </p:nvSpPr>
        <p:spPr>
          <a:xfrm>
            <a:off x="9087917" y="557784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Indicadores e rastreabilidade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inel lateral" descr="assets/panel_dar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9080" cy="6858000"/>
          </a:xfrm>
          <a:prstGeom prst="rect">
            <a:avLst/>
          </a:prstGeom>
        </p:spPr>
      </p:pic>
      <p:pic>
        <p:nvPicPr>
          <p:cNvPr id="3" name="Logo FIEPA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1828800" cy="31638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ROTEIRO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Agenda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Reimplantação CRM Dynamics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9326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C1E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Agenda 1 (círculo)"/>
          <p:cNvSpPr/>
          <p:nvPr/>
        </p:nvSpPr>
        <p:spPr>
          <a:xfrm>
            <a:off x="5623560" y="905256"/>
            <a:ext cx="566928" cy="56692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9" name="Ícone WarningCircle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5292" y="1046988"/>
            <a:ext cx="283464" cy="2834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46520" y="905256"/>
            <a:ext cx="505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JUSTIFICATIVA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6446520" y="114300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CRM atual limita a gestão comercial</a:t>
            </a:r>
            <a:endParaRPr lang="en-US" sz="1900" dirty="0"/>
          </a:p>
        </p:txBody>
      </p:sp>
      <p:sp>
        <p:nvSpPr>
          <p:cNvPr id="12" name="Linha"/>
          <p:cNvSpPr/>
          <p:nvPr/>
        </p:nvSpPr>
        <p:spPr>
          <a:xfrm>
            <a:off x="5623560" y="1627632"/>
            <a:ext cx="5882335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754880" y="18288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C1E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Agenda 2 (círculo)"/>
          <p:cNvSpPr/>
          <p:nvPr/>
        </p:nvSpPr>
        <p:spPr>
          <a:xfrm>
            <a:off x="5623560" y="1801368"/>
            <a:ext cx="566928" cy="56692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15" name="Ícone RocketLaunch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5292" y="1943100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46520" y="1801368"/>
            <a:ext cx="505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VALOR PARA A GESTÃO</a:t>
            </a:r>
            <a:endParaRPr lang="en-US" sz="950" dirty="0"/>
          </a:p>
        </p:txBody>
      </p:sp>
      <p:sp>
        <p:nvSpPr>
          <p:cNvPr id="17" name="Text 11"/>
          <p:cNvSpPr txBox="1"/>
          <p:nvPr/>
        </p:nvSpPr>
        <p:spPr>
          <a:xfrm>
            <a:off x="6446520" y="2039112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que muda na prática</a:t>
            </a:r>
            <a:endParaRPr lang="en-US" sz="1900" dirty="0"/>
          </a:p>
        </p:txBody>
      </p:sp>
      <p:sp>
        <p:nvSpPr>
          <p:cNvPr id="18" name="Linha"/>
          <p:cNvSpPr/>
          <p:nvPr/>
        </p:nvSpPr>
        <p:spPr>
          <a:xfrm>
            <a:off x="5623560" y="2523744"/>
            <a:ext cx="5882335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754880" y="2724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C1E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Agenda 3 (círculo)"/>
          <p:cNvSpPr/>
          <p:nvPr/>
        </p:nvSpPr>
        <p:spPr>
          <a:xfrm>
            <a:off x="5623560" y="2697480"/>
            <a:ext cx="566928" cy="56692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21" name="Ícone PlugsConnected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5292" y="2839212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2697480"/>
            <a:ext cx="505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INTEGRAÇÕES E CONTROLE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2935224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Sistemas conectados, acessos controlados</a:t>
            </a:r>
            <a:endParaRPr lang="en-US" sz="1900" dirty="0"/>
          </a:p>
        </p:txBody>
      </p:sp>
      <p:sp>
        <p:nvSpPr>
          <p:cNvPr id="24" name="Linha"/>
          <p:cNvSpPr/>
          <p:nvPr/>
        </p:nvSpPr>
        <p:spPr>
          <a:xfrm>
            <a:off x="5623560" y="3419856"/>
            <a:ext cx="5882335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754880" y="362102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C1E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Agenda 4 (círculo)"/>
          <p:cNvSpPr/>
          <p:nvPr/>
        </p:nvSpPr>
        <p:spPr>
          <a:xfrm>
            <a:off x="5623560" y="3593592"/>
            <a:ext cx="566928" cy="56692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27" name="Ícone FlagBanner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5292" y="3735324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46520" y="3593592"/>
            <a:ext cx="505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ENTREGAS</a:t>
            </a:r>
            <a:endParaRPr lang="en-US" sz="950" dirty="0"/>
          </a:p>
        </p:txBody>
      </p:sp>
      <p:sp>
        <p:nvSpPr>
          <p:cNvPr id="29" name="Text 21"/>
          <p:cNvSpPr txBox="1"/>
          <p:nvPr/>
        </p:nvSpPr>
        <p:spPr>
          <a:xfrm>
            <a:off x="6446520" y="3831336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Etapas do projeto de reimplantação</a:t>
            </a:r>
            <a:endParaRPr lang="en-US" sz="1900" dirty="0"/>
          </a:p>
        </p:txBody>
      </p:sp>
      <p:sp>
        <p:nvSpPr>
          <p:cNvPr id="30" name="Linha"/>
          <p:cNvSpPr/>
          <p:nvPr/>
        </p:nvSpPr>
        <p:spPr>
          <a:xfrm>
            <a:off x="5623560" y="4315968"/>
            <a:ext cx="5882335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4754880" y="451713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C1E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Agenda 5 (círculo)"/>
          <p:cNvSpPr/>
          <p:nvPr/>
        </p:nvSpPr>
        <p:spPr>
          <a:xfrm>
            <a:off x="5623560" y="4489704"/>
            <a:ext cx="566928" cy="56692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33" name="Ícone Coins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5292" y="4631436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446520" y="4489704"/>
            <a:ext cx="505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INVESTIMENTO</a:t>
            </a:r>
            <a:endParaRPr 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6446520" y="4727448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Duas alternativas de contratação</a:t>
            </a:r>
            <a:endParaRPr lang="en-US" sz="1900" dirty="0"/>
          </a:p>
        </p:txBody>
      </p:sp>
      <p:sp>
        <p:nvSpPr>
          <p:cNvPr id="36" name="Linha"/>
          <p:cNvSpPr/>
          <p:nvPr/>
        </p:nvSpPr>
        <p:spPr>
          <a:xfrm>
            <a:off x="5623560" y="5212080"/>
            <a:ext cx="5882335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4754880" y="54132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C1E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Agenda 6 (círculo)"/>
          <p:cNvSpPr/>
          <p:nvPr/>
        </p:nvSpPr>
        <p:spPr>
          <a:xfrm>
            <a:off x="5623560" y="5385816"/>
            <a:ext cx="566928" cy="56692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39" name="Ícone Prohibit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5292" y="5527548"/>
            <a:ext cx="283464" cy="28346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446520" y="5385816"/>
            <a:ext cx="505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ESCOPO</a:t>
            </a:r>
            <a:endParaRPr lang="en-US" sz="950" dirty="0"/>
          </a:p>
        </p:txBody>
      </p:sp>
      <p:sp>
        <p:nvSpPr>
          <p:cNvPr id="41" name="Text 31"/>
          <p:cNvSpPr txBox="1"/>
          <p:nvPr/>
        </p:nvSpPr>
        <p:spPr>
          <a:xfrm>
            <a:off x="6446520" y="562356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que não está incluído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– JUSTIFICATIVA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CRM atual limita a gestão comercial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reimplantação busca alinhar o processo à estrutura atual e recuperar visibilidade, integração e capacidade de evolução.</a:t>
            </a:r>
            <a:endParaRPr lang="en-US" sz="1400" dirty="0"/>
          </a:p>
        </p:txBody>
      </p:sp>
      <p:sp>
        <p:nvSpPr>
          <p:cNvPr id="5" name="Problema 1 (círculo)"/>
          <p:cNvSpPr/>
          <p:nvPr/>
        </p:nvSpPr>
        <p:spPr>
          <a:xfrm>
            <a:off x="685800" y="2331720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6" name="Ícone ArrowsSplit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514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368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PROCESSO DESALINHADO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7919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fluxo atual não reflete plenamente a estrutura das entidades.</a:t>
            </a:r>
            <a:endParaRPr lang="en-US" sz="1400" dirty="0"/>
          </a:p>
        </p:txBody>
      </p:sp>
      <p:sp>
        <p:nvSpPr>
          <p:cNvPr id="9" name="Linha"/>
          <p:cNvSpPr/>
          <p:nvPr/>
        </p:nvSpPr>
        <p:spPr>
          <a:xfrm>
            <a:off x="1737360" y="3447288"/>
            <a:ext cx="5577840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10" name="Problema 2 (círculo)"/>
          <p:cNvSpPr/>
          <p:nvPr/>
        </p:nvSpPr>
        <p:spPr>
          <a:xfrm>
            <a:off x="685800" y="3630168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11" name="Ícone EyeSlash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38130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6667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BAIXA VISÃO GERENCIAL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9776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Faltam relatórios consistentes para acompanhar funil, conversão e previsão.</a:t>
            </a:r>
            <a:endParaRPr lang="en-US" sz="1400" dirty="0"/>
          </a:p>
        </p:txBody>
      </p:sp>
      <p:sp>
        <p:nvSpPr>
          <p:cNvPr id="14" name="Linha"/>
          <p:cNvSpPr/>
          <p:nvPr/>
        </p:nvSpPr>
        <p:spPr>
          <a:xfrm>
            <a:off x="1737360" y="4745736"/>
            <a:ext cx="5577840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sp>
        <p:nvSpPr>
          <p:cNvPr id="15" name="Problema 3 (círculo)"/>
          <p:cNvSpPr/>
          <p:nvPr/>
        </p:nvSpPr>
        <p:spPr>
          <a:xfrm>
            <a:off x="685800" y="4928616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16" name="Ícone ArrowsClockwise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511149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9651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RETRABALHO E LEGADO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276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Controles paralelos, customizações acumuladas e integrações descontinuadas dificultam a evolução.</a:t>
            </a:r>
            <a:endParaRPr lang="en-US" sz="1400" dirty="0"/>
          </a:p>
        </p:txBody>
      </p:sp>
      <p:sp>
        <p:nvSpPr>
          <p:cNvPr id="19" name="Painel consequências"/>
          <p:cNvSpPr/>
          <p:nvPr/>
        </p:nvSpPr>
        <p:spPr>
          <a:xfrm>
            <a:off x="7589520" y="2286000"/>
            <a:ext cx="3916375" cy="384048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  <a:effectLst>
            <a:outerShdw sx="100000" sy="100000" kx="0" ky="0" algn="bl" rotWithShape="0" blurRad="304800" dist="76200" dir="5400000">
              <a:srgbClr val="0A2A5E">
                <a:alpha val="18000"/>
              </a:srgbClr>
            </a:outerShdw>
          </a:effectLst>
        </p:spPr>
      </p:sp>
      <p:sp>
        <p:nvSpPr>
          <p:cNvPr id="20" name="Consequência (círculo)"/>
          <p:cNvSpPr/>
          <p:nvPr/>
        </p:nvSpPr>
        <p:spPr>
          <a:xfrm>
            <a:off x="8001000" y="2670048"/>
            <a:ext cx="731520" cy="731520"/>
          </a:xfrm>
          <a:prstGeom prst="ellipse">
            <a:avLst/>
          </a:prstGeom>
          <a:ln w="9525">
            <a:solidFill>
              <a:srgbClr val="3FC1E8">
                <a:alpha val="75000"/>
              </a:srgbClr>
            </a:solidFill>
            <a:prstDash val="solid"/>
          </a:ln>
        </p:spPr>
      </p:sp>
      <p:pic>
        <p:nvPicPr>
          <p:cNvPr id="21" name="Ícone TrendDown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3880" y="28529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01000" y="3639312"/>
            <a:ext cx="3093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CONSEQUÊNCIAS PARA A GESTÃO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8001000" y="3977640"/>
            <a:ext cx="3093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Menor capacidade de acompanhar oportunidades, padronizar decisões e planejar resultados com base em informações confiáveis.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– VALOR PARA A GESTÃO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que muda na prática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objetivo não é apenas atualizar o sistema: é melhorar a forma de gerir o relacionamento e as oportunidades.</a:t>
            </a:r>
            <a:endParaRPr lang="en-US" sz="1400" dirty="0"/>
          </a:p>
        </p:txBody>
      </p:sp>
      <p:sp>
        <p:nvSpPr>
          <p:cNvPr id="5" name="Benefício 1"/>
          <p:cNvSpPr/>
          <p:nvPr/>
        </p:nvSpPr>
        <p:spPr>
          <a:xfrm>
            <a:off x="685800" y="2212848"/>
            <a:ext cx="2499284" cy="2816352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6" name="Benefício 1 (círculo)"/>
          <p:cNvSpPr/>
          <p:nvPr/>
        </p:nvSpPr>
        <p:spPr>
          <a:xfrm>
            <a:off x="996696" y="2523744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7" name="Ícone UserFocus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9576" y="2706624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2668" y="25694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BCD0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3566160"/>
            <a:ext cx="187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CLIENTE 360º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6696" y="3895344"/>
            <a:ext cx="1877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Contas, contratos, oportunidades e proposta em um só lugar.</a:t>
            </a:r>
            <a:endParaRPr lang="en-US" sz="1400" dirty="0"/>
          </a:p>
        </p:txBody>
      </p:sp>
      <p:sp>
        <p:nvSpPr>
          <p:cNvPr id="11" name="Benefício 2"/>
          <p:cNvSpPr/>
          <p:nvPr/>
        </p:nvSpPr>
        <p:spPr>
          <a:xfrm>
            <a:off x="3459404" y="2212848"/>
            <a:ext cx="2499284" cy="2816352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12" name="Benefício 2 (círculo)"/>
          <p:cNvSpPr/>
          <p:nvPr/>
        </p:nvSpPr>
        <p:spPr>
          <a:xfrm>
            <a:off x="3770300" y="2523744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13" name="Ícone ShieldCheck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3180" y="270662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16272" y="25694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BCD0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770300" y="3566160"/>
            <a:ext cx="187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GOVERNANÇA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770300" y="3895344"/>
            <a:ext cx="1877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Etapas, responsabilidades e alçadas claras.</a:t>
            </a:r>
            <a:endParaRPr lang="en-US" sz="1400" dirty="0"/>
          </a:p>
        </p:txBody>
      </p:sp>
      <p:sp>
        <p:nvSpPr>
          <p:cNvPr id="17" name="Benefício 3"/>
          <p:cNvSpPr/>
          <p:nvPr/>
        </p:nvSpPr>
        <p:spPr>
          <a:xfrm>
            <a:off x="6233008" y="2212848"/>
            <a:ext cx="2499284" cy="2816352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18" name="Benefício 3 (círculo)"/>
          <p:cNvSpPr/>
          <p:nvPr/>
        </p:nvSpPr>
        <p:spPr>
          <a:xfrm>
            <a:off x="6543904" y="2523744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19" name="Ícone Target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6784" y="270662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89875" y="25694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BCD0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543904" y="3566160"/>
            <a:ext cx="187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DECISÃO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543904" y="3895344"/>
            <a:ext cx="1877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Metas e previsão de vendas</a:t>
            </a:r>
            <a:endParaRPr lang="en-US" sz="1400" dirty="0"/>
          </a:p>
        </p:txBody>
      </p:sp>
      <p:sp>
        <p:nvSpPr>
          <p:cNvPr id="23" name="Benefício 4"/>
          <p:cNvSpPr/>
          <p:nvPr/>
        </p:nvSpPr>
        <p:spPr>
          <a:xfrm>
            <a:off x="9006611" y="2212848"/>
            <a:ext cx="2499284" cy="2816352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24" name="Benefício 4 (círculo)"/>
          <p:cNvSpPr/>
          <p:nvPr/>
        </p:nvSpPr>
        <p:spPr>
          <a:xfrm>
            <a:off x="9317507" y="2523744"/>
            <a:ext cx="731520" cy="731520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25" name="Ícone Lightning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0387" y="2706624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463479" y="25694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dirty="0">
                <a:solidFill>
                  <a:srgbClr val="BCD0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317507" y="3566160"/>
            <a:ext cx="187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EFICIÊNCIA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317507" y="3895344"/>
            <a:ext cx="18774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controles paralelos e tarefas manuais.</a:t>
            </a:r>
            <a:endParaRPr lang="en-US" sz="1400" dirty="0"/>
          </a:p>
        </p:txBody>
      </p:sp>
      <p:sp>
        <p:nvSpPr>
          <p:cNvPr id="29" name="Resultado esperado"/>
          <p:cNvSpPr/>
          <p:nvPr/>
        </p:nvSpPr>
        <p:spPr>
          <a:xfrm>
            <a:off x="685800" y="5212080"/>
            <a:ext cx="10820095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  <a:effectLst>
            <a:outerShdw sx="100000" sy="100000" kx="0" ky="0" algn="bl" rotWithShape="0" blurRad="254000" dist="63500" dir="5400000">
              <a:srgbClr val="0A2A5E">
                <a:alpha val="16000"/>
              </a:srgbClr>
            </a:outerShdw>
          </a:effectLst>
        </p:spPr>
      </p:sp>
      <p:sp>
        <p:nvSpPr>
          <p:cNvPr id="30" name="Resultado (círculo)"/>
          <p:cNvSpPr/>
          <p:nvPr/>
        </p:nvSpPr>
        <p:spPr>
          <a:xfrm>
            <a:off x="1051560" y="5413248"/>
            <a:ext cx="603504" cy="603504"/>
          </a:xfrm>
          <a:prstGeom prst="ellipse">
            <a:avLst/>
          </a:prstGeom>
          <a:ln w="9525">
            <a:solidFill>
              <a:srgbClr val="3FC1E8">
                <a:alpha val="75000"/>
              </a:srgbClr>
            </a:solidFill>
            <a:prstDash val="solid"/>
          </a:ln>
        </p:spPr>
      </p:sp>
      <p:pic>
        <p:nvPicPr>
          <p:cNvPr id="31" name="Ícone SealCheck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2436" y="556412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920240" y="5431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RESULTADO ESPERADO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1920240" y="5687568"/>
            <a:ext cx="9357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Um processo comercial comum, com dados rastreáveis e melhor suporte à decisão.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– INTEGRAÇÕES E CONTROLE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Sistemas conectados, acessos controlados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proposta prevê rotas nativas Microsoft e camada Azure para integrações específicas.</a:t>
            </a:r>
            <a:endParaRPr lang="en-US" sz="1400" dirty="0"/>
          </a:p>
        </p:txBody>
      </p:sp>
      <p:sp>
        <p:nvSpPr>
          <p:cNvPr id="5" name="Conector"/>
          <p:cNvSpPr/>
          <p:nvPr/>
        </p:nvSpPr>
        <p:spPr>
          <a:xfrm>
            <a:off x="4114800" y="2642616"/>
            <a:ext cx="792328" cy="192024"/>
          </a:xfrm>
          <a:prstGeom prst="line">
            <a:avLst/>
          </a:prstGeom>
          <a:noFill/>
          <a:ln w="9525">
            <a:solidFill>
              <a:srgbClr val="A9C1E2"/>
            </a:solidFill>
            <a:prstDash val="solid"/>
            <a:headEnd type="triangle"/>
            <a:tailEnd type="triangle"/>
          </a:ln>
        </p:spPr>
      </p:sp>
      <p:sp>
        <p:nvSpPr>
          <p:cNvPr id="6" name="Conector"/>
          <p:cNvSpPr/>
          <p:nvPr/>
        </p:nvSpPr>
        <p:spPr>
          <a:xfrm flipV="1">
            <a:off x="4114800" y="3255264"/>
            <a:ext cx="792328" cy="612648"/>
          </a:xfrm>
          <a:prstGeom prst="line">
            <a:avLst/>
          </a:prstGeom>
          <a:noFill/>
          <a:ln w="9525">
            <a:solidFill>
              <a:srgbClr val="A9C1E2"/>
            </a:solidFill>
            <a:prstDash val="solid"/>
            <a:headEnd type="triangle"/>
            <a:tailEnd type="triangle"/>
          </a:ln>
        </p:spPr>
      </p:sp>
      <p:sp>
        <p:nvSpPr>
          <p:cNvPr id="7" name="Conector"/>
          <p:cNvSpPr/>
          <p:nvPr/>
        </p:nvSpPr>
        <p:spPr>
          <a:xfrm flipV="1">
            <a:off x="7284568" y="2642616"/>
            <a:ext cx="792328" cy="192024"/>
          </a:xfrm>
          <a:prstGeom prst="line">
            <a:avLst/>
          </a:prstGeom>
          <a:noFill/>
          <a:ln w="9525">
            <a:solidFill>
              <a:srgbClr val="A9C1E2"/>
            </a:solidFill>
            <a:prstDash val="solid"/>
            <a:tailEnd type="triangle"/>
          </a:ln>
        </p:spPr>
      </p:sp>
      <p:sp>
        <p:nvSpPr>
          <p:cNvPr id="8" name="Conector"/>
          <p:cNvSpPr/>
          <p:nvPr/>
        </p:nvSpPr>
        <p:spPr>
          <a:xfrm>
            <a:off x="7284568" y="3255264"/>
            <a:ext cx="792328" cy="612648"/>
          </a:xfrm>
          <a:prstGeom prst="line">
            <a:avLst/>
          </a:prstGeom>
          <a:noFill/>
          <a:ln w="9525">
            <a:solidFill>
              <a:srgbClr val="A9C1E2"/>
            </a:solidFill>
            <a:prstDash val="solid"/>
            <a:headEnd type="triangle"/>
            <a:tailEnd type="triangle"/>
          </a:ln>
        </p:spPr>
      </p:sp>
      <p:sp>
        <p:nvSpPr>
          <p:cNvPr id="9" name="Conector"/>
          <p:cNvSpPr/>
          <p:nvPr/>
        </p:nvSpPr>
        <p:spPr>
          <a:xfrm>
            <a:off x="6095848" y="3438144"/>
            <a:ext cx="0" cy="329184"/>
          </a:xfrm>
          <a:prstGeom prst="line">
            <a:avLst/>
          </a:prstGeom>
          <a:noFill/>
          <a:ln w="9525">
            <a:solidFill>
              <a:srgbClr val="1660C4"/>
            </a:solidFill>
            <a:prstDash val="dash"/>
          </a:ln>
        </p:spPr>
      </p:sp>
      <p:sp>
        <p:nvSpPr>
          <p:cNvPr id="10" name="Halo CRM"/>
          <p:cNvSpPr/>
          <p:nvPr/>
        </p:nvSpPr>
        <p:spPr>
          <a:xfrm>
            <a:off x="4459072" y="2523744"/>
            <a:ext cx="3273552" cy="10424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1" name="Dynamics 365 Sales"/>
          <p:cNvSpPr/>
          <p:nvPr/>
        </p:nvSpPr>
        <p:spPr>
          <a:xfrm>
            <a:off x="4587088" y="2651760"/>
            <a:ext cx="3017520" cy="7863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228600" dist="50800" dir="5400000">
              <a:srgbClr val="0A2A5E">
                <a:alpha val="20000"/>
              </a:srgbClr>
            </a:outerShdw>
          </a:effectLst>
        </p:spPr>
      </p:sp>
      <p:sp>
        <p:nvSpPr>
          <p:cNvPr id="12" name="CRM (círculo)"/>
          <p:cNvSpPr/>
          <p:nvPr/>
        </p:nvSpPr>
        <p:spPr>
          <a:xfrm>
            <a:off x="4724248" y="2788920"/>
            <a:ext cx="512064" cy="512064"/>
          </a:xfrm>
          <a:prstGeom prst="ellipse">
            <a:avLst/>
          </a:prstGeom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13" name="Ícone UsersThree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2264" y="2916936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364328" y="265176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DYNAMICS 365 SALES (CRM)</a:t>
            </a:r>
            <a:endParaRPr lang="en-US" sz="1200" dirty="0"/>
          </a:p>
        </p:txBody>
      </p:sp>
      <p:sp>
        <p:nvSpPr>
          <p:cNvPr id="15" name="Dynamics 365 F&amp;SCM"/>
          <p:cNvSpPr/>
          <p:nvPr/>
        </p:nvSpPr>
        <p:spPr>
          <a:xfrm>
            <a:off x="685800" y="2176272"/>
            <a:ext cx="342900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16" name="Dynamics 365 F&amp;SCM (círculo)"/>
          <p:cNvSpPr/>
          <p:nvPr/>
        </p:nvSpPr>
        <p:spPr>
          <a:xfrm>
            <a:off x="886968" y="2377440"/>
            <a:ext cx="530352" cy="530352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17" name="Ícone Factory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556" y="2510028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81912" y="233172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Dynamics 365 F&amp;SCM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581912" y="2606040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Contas nos dois sentidos; produtos e preços → CRM</a:t>
            </a:r>
            <a:endParaRPr lang="en-US" sz="1150" dirty="0"/>
          </a:p>
        </p:txBody>
      </p:sp>
      <p:sp>
        <p:nvSpPr>
          <p:cNvPr id="20" name="Outlook + Teams"/>
          <p:cNvSpPr/>
          <p:nvPr/>
        </p:nvSpPr>
        <p:spPr>
          <a:xfrm>
            <a:off x="685800" y="3401568"/>
            <a:ext cx="342900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21" name="Outlook + Teams (círculo)"/>
          <p:cNvSpPr/>
          <p:nvPr/>
        </p:nvSpPr>
        <p:spPr>
          <a:xfrm>
            <a:off x="886968" y="3602736"/>
            <a:ext cx="530352" cy="530352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22" name="Ícone ChatsCircle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556" y="3735324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81912" y="35570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Outlook + Teams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581912" y="3831336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E-mails, reuniões, aprovações e avisos</a:t>
            </a:r>
            <a:endParaRPr lang="en-US" sz="1150" dirty="0"/>
          </a:p>
        </p:txBody>
      </p:sp>
      <p:sp>
        <p:nvSpPr>
          <p:cNvPr id="25" name="CRM Nacional (CNI)"/>
          <p:cNvSpPr/>
          <p:nvPr/>
        </p:nvSpPr>
        <p:spPr>
          <a:xfrm>
            <a:off x="8076895" y="2176272"/>
            <a:ext cx="342900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26" name="CRM Nacional (CNI) (círculo)"/>
          <p:cNvSpPr/>
          <p:nvPr/>
        </p:nvSpPr>
        <p:spPr>
          <a:xfrm>
            <a:off x="8278063" y="2377440"/>
            <a:ext cx="530352" cy="530352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27" name="Ícone Buildings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651" y="2510028"/>
            <a:ext cx="265176" cy="26517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73007" y="233172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CRM Nacional (CNI)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973007" y="2606040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Envio a cada alteração, rastreio e reprocessamento</a:t>
            </a:r>
            <a:endParaRPr lang="en-US" sz="1150" dirty="0"/>
          </a:p>
        </p:txBody>
      </p:sp>
      <p:sp>
        <p:nvSpPr>
          <p:cNvPr id="30" name="SharePoint"/>
          <p:cNvSpPr/>
          <p:nvPr/>
        </p:nvSpPr>
        <p:spPr>
          <a:xfrm>
            <a:off x="8076895" y="3401568"/>
            <a:ext cx="342900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31" name="SharePoint (círculo)"/>
          <p:cNvSpPr/>
          <p:nvPr/>
        </p:nvSpPr>
        <p:spPr>
          <a:xfrm>
            <a:off x="8278063" y="3602736"/>
            <a:ext cx="530352" cy="530352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32" name="Ícone Folders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0651" y="3735324"/>
            <a:ext cx="265176" cy="26517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973007" y="35570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973007" y="3831336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por conta e oportunidade</a:t>
            </a:r>
            <a:endParaRPr lang="en-US" sz="1150" dirty="0"/>
          </a:p>
        </p:txBody>
      </p:sp>
      <p:sp>
        <p:nvSpPr>
          <p:cNvPr id="35" name="Onda 2 · CNPJ"/>
          <p:cNvSpPr/>
          <p:nvPr/>
        </p:nvSpPr>
        <p:spPr>
          <a:xfrm>
            <a:off x="4289908" y="3767328"/>
            <a:ext cx="361188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9525">
            <a:solidFill>
              <a:srgbClr val="1660C4"/>
            </a:solidFill>
            <a:prstDash val="dash"/>
          </a:ln>
        </p:spPr>
      </p:sp>
      <p:sp>
        <p:nvSpPr>
          <p:cNvPr id="36" name="CNPJ (círculo)"/>
          <p:cNvSpPr/>
          <p:nvPr/>
        </p:nvSpPr>
        <p:spPr>
          <a:xfrm>
            <a:off x="4472788" y="3904488"/>
            <a:ext cx="512064" cy="512064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37" name="Ícone IdentificationCard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00804" y="4032504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131156" y="3895344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Onda 2 · Consulta por CNPJ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131156" y="41788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Complemento de cadastro de empresas</a:t>
            </a:r>
            <a:endParaRPr lang="en-US" sz="1100" dirty="0"/>
          </a:p>
        </p:txBody>
      </p:sp>
      <p:sp>
        <p:nvSpPr>
          <p:cNvPr id="40" name="Painel segurança"/>
          <p:cNvSpPr/>
          <p:nvPr/>
        </p:nvSpPr>
        <p:spPr>
          <a:xfrm>
            <a:off x="685800" y="4828032"/>
            <a:ext cx="1082009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1005840" y="5047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SEGURANÇA E PRIVACIDADE</a:t>
            </a:r>
            <a:endParaRPr lang="en-US" sz="1050" dirty="0"/>
          </a:p>
        </p:txBody>
      </p:sp>
      <p:sp>
        <p:nvSpPr>
          <p:cNvPr id="42" name="Segregação (círculo)"/>
          <p:cNvSpPr/>
          <p:nvPr/>
        </p:nvSpPr>
        <p:spPr>
          <a:xfrm>
            <a:off x="1005840" y="539496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43" name="Ícone LockLaminated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0140" y="5509260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600200" y="5385816"/>
            <a:ext cx="1813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Segregação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1600200" y="5650992"/>
            <a:ext cx="18134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entidade vê e altera seus registros conforme o perfil.</a:t>
            </a:r>
            <a:endParaRPr lang="en-US" sz="1100" dirty="0"/>
          </a:p>
        </p:txBody>
      </p:sp>
      <p:sp>
        <p:nvSpPr>
          <p:cNvPr id="46" name="Perfis e hierarquia (círculo)"/>
          <p:cNvSpPr/>
          <p:nvPr/>
        </p:nvSpPr>
        <p:spPr>
          <a:xfrm>
            <a:off x="3550844" y="539496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47" name="Ícone TreeStructure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5144" y="5509260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145204" y="5385816"/>
            <a:ext cx="1813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Perfis e hierarquia</a:t>
            </a:r>
            <a:endParaRPr lang="en-US" sz="1300" dirty="0"/>
          </a:p>
        </p:txBody>
      </p:sp>
      <p:sp>
        <p:nvSpPr>
          <p:cNvPr id="49" name="Text 39"/>
          <p:cNvSpPr txBox="1"/>
          <p:nvPr/>
        </p:nvSpPr>
        <p:spPr>
          <a:xfrm>
            <a:off x="4145204" y="5650992"/>
            <a:ext cx="18134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por função; gestores acompanham suas equipes.</a:t>
            </a:r>
            <a:endParaRPr lang="en-US" sz="1100" dirty="0"/>
          </a:p>
        </p:txBody>
      </p:sp>
      <p:sp>
        <p:nvSpPr>
          <p:cNvPr id="50" name="Campos sensíveis (círculo)"/>
          <p:cNvSpPr/>
          <p:nvPr/>
        </p:nvSpPr>
        <p:spPr>
          <a:xfrm>
            <a:off x="6095848" y="539496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51" name="Ícone Password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10148" y="5509260"/>
            <a:ext cx="228600" cy="2286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6690208" y="5385816"/>
            <a:ext cx="1813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Campos sensíveis</a:t>
            </a:r>
            <a:endParaRPr lang="en-US" sz="1300" dirty="0"/>
          </a:p>
        </p:txBody>
      </p:sp>
      <p:sp>
        <p:nvSpPr>
          <p:cNvPr id="53" name="Text 42"/>
          <p:cNvSpPr txBox="1"/>
          <p:nvPr/>
        </p:nvSpPr>
        <p:spPr>
          <a:xfrm>
            <a:off x="6690208" y="5650992"/>
            <a:ext cx="18134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e descontos protegidos por perfil.</a:t>
            </a:r>
            <a:endParaRPr lang="en-US" sz="1100" dirty="0"/>
          </a:p>
        </p:txBody>
      </p:sp>
      <p:sp>
        <p:nvSpPr>
          <p:cNvPr id="54" name="Auditoria (círculo)"/>
          <p:cNvSpPr/>
          <p:nvPr/>
        </p:nvSpPr>
        <p:spPr>
          <a:xfrm>
            <a:off x="8640851" y="539496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55" name="Ícone ClockCounterClockwise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55151" y="5509260"/>
            <a:ext cx="228600" cy="2286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9235211" y="5385816"/>
            <a:ext cx="1813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Auditoria</a:t>
            </a:r>
            <a:endParaRPr lang="en-US" sz="1300" dirty="0"/>
          </a:p>
        </p:txBody>
      </p:sp>
      <p:sp>
        <p:nvSpPr>
          <p:cNvPr id="57" name="Text 45"/>
          <p:cNvSpPr txBox="1"/>
          <p:nvPr/>
        </p:nvSpPr>
        <p:spPr>
          <a:xfrm>
            <a:off x="9235211" y="5650992"/>
            <a:ext cx="18134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alterações nas tabelas principais.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– ENTREGAS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Etapas do projeto de reimplantação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etapa tem um propósito, de forma macro</a:t>
            </a:r>
            <a:endParaRPr lang="en-US" sz="1400" dirty="0"/>
          </a:p>
        </p:txBody>
      </p:sp>
      <p:sp>
        <p:nvSpPr>
          <p:cNvPr id="5" name="Barra Onda 1"/>
          <p:cNvSpPr/>
          <p:nvPr/>
        </p:nvSpPr>
        <p:spPr>
          <a:xfrm>
            <a:off x="685800" y="2212848"/>
            <a:ext cx="8777991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  <a:effectLst>
            <a:outerShdw sx="100000" sy="100000" kx="0" ky="0" algn="bl" rotWithShape="0" blurRad="203200" dist="50800" dir="5400000">
              <a:srgbClr val="0A2A5E">
                <a:alpha val="16000"/>
              </a:srgbClr>
            </a:outerShdw>
          </a:effectLst>
        </p:spPr>
      </p:sp>
      <p:sp>
        <p:nvSpPr>
          <p:cNvPr id="6" name="Onda 1 (círculo)"/>
          <p:cNvSpPr/>
          <p:nvPr/>
        </p:nvSpPr>
        <p:spPr>
          <a:xfrm>
            <a:off x="841248" y="2331720"/>
            <a:ext cx="402336" cy="402336"/>
          </a:xfrm>
          <a:prstGeom prst="ellipse">
            <a:avLst/>
          </a:prstGeom>
          <a:ln w="9525">
            <a:solidFill>
              <a:srgbClr val="3FC1E8">
                <a:alpha val="75000"/>
              </a:srgbClr>
            </a:solidFill>
            <a:prstDash val="solid"/>
          </a:ln>
        </p:spPr>
      </p:sp>
      <p:pic>
        <p:nvPicPr>
          <p:cNvPr id="7" name="Ícone RocketLaunch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243230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2128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Onda 1 – Núcleo Comercial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257551" y="22128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Previsão de execução   </a:t>
            </a:r>
            <a:pPr algn="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 semanas ~ 4 meses</a:t>
            </a:r>
            <a:endParaRPr lang="en-US" sz="1250" dirty="0"/>
          </a:p>
        </p:txBody>
      </p:sp>
      <p:sp>
        <p:nvSpPr>
          <p:cNvPr id="10" name="Barra Onda 2"/>
          <p:cNvSpPr/>
          <p:nvPr/>
        </p:nvSpPr>
        <p:spPr>
          <a:xfrm>
            <a:off x="9555231" y="2212848"/>
            <a:ext cx="1950665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03200" dist="50800" dir="5400000">
              <a:srgbClr val="0A2A5E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738111" y="2212848"/>
            <a:ext cx="1676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Onda 2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 semanas ~ 1 mês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9626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99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Início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823711" y="29626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9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 18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134295" y="29626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C99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 22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4107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3832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 de regras de solução, dados e integrações.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105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078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Ambientes, segurança e estrutura das 4 entidades, com linhas de solução, casas e centros de custo.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8006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7731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guiado de vendas, oportunidade com vários produtos e proposta com modelo.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495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546811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Alçadas de aprovação no Teams e Outlook.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434840" y="34107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3832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Alçada de desconto.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434840" y="4105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4078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360º, metas, previsão e painel de funil no Power BI.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4434840" y="48006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47731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ERP Dynamics e CRM Nacional.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434840" y="54955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546811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Migração de dados em aberto, testes, treinamento e operação assistida.</a:t>
            </a:r>
            <a:endParaRPr lang="en-US" sz="1250" dirty="0"/>
          </a:p>
        </p:txBody>
      </p:sp>
      <p:sp>
        <p:nvSpPr>
          <p:cNvPr id="31" name="Painel Onda 2"/>
          <p:cNvSpPr/>
          <p:nvPr/>
        </p:nvSpPr>
        <p:spPr>
          <a:xfrm>
            <a:off x="8092440" y="3200400"/>
            <a:ext cx="3413455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412480" y="3493008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ONDA 2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374904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Painéis Avançados e CNPJ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412480" y="44439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823960" y="4416552"/>
            <a:ext cx="2407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Painéis Avançados de Produtos e Similaridade no Power BI.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412480" y="52669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823960" y="5239512"/>
            <a:ext cx="2407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para cadastro de Empresas por CNPJ.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– INVESTIMENTO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Duas alternativas de contratação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Time &amp; Materials: faturamento conforme horas medidas e aprovadas.</a:t>
            </a:r>
            <a:endParaRPr lang="en-US" sz="1400" dirty="0"/>
          </a:p>
        </p:txBody>
      </p:sp>
      <p:sp>
        <p:nvSpPr>
          <p:cNvPr id="5" name="OPÇÃO A · NÚCLEO COMERCIAL"/>
          <p:cNvSpPr/>
          <p:nvPr/>
        </p:nvSpPr>
        <p:spPr>
          <a:xfrm>
            <a:off x="685800" y="2212848"/>
            <a:ext cx="5250028" cy="3127248"/>
          </a:xfrm>
          <a:prstGeom prst="roundRect">
            <a:avLst>
              <a:gd name="adj" fmla="val 2339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624328"/>
            <a:ext cx="3604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OPÇÃO A · NÚCLEO COMERCIAL</a:t>
            </a:r>
            <a:endParaRPr lang="en-US" sz="1100" dirty="0"/>
          </a:p>
        </p:txBody>
      </p:sp>
      <p:sp>
        <p:nvSpPr>
          <p:cNvPr id="7" name="OPÇÃO A · NÚCLEO COMERCIAL (círculo)"/>
          <p:cNvSpPr/>
          <p:nvPr/>
        </p:nvSpPr>
        <p:spPr>
          <a:xfrm>
            <a:off x="4865980" y="2505456"/>
            <a:ext cx="658368" cy="658368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8" name="Ícone Cube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0572" y="2670048"/>
            <a:ext cx="329184" cy="329184"/>
          </a:xfrm>
          <a:prstGeom prst="rect">
            <a:avLst/>
          </a:prstGeom>
        </p:spPr>
      </p:pic>
      <p:sp>
        <p:nvSpPr>
          <p:cNvPr id="9" name="Escopo"/>
          <p:cNvSpPr/>
          <p:nvPr/>
        </p:nvSpPr>
        <p:spPr>
          <a:xfrm>
            <a:off x="1097280" y="2990088"/>
            <a:ext cx="978408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7280" y="299008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Onda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474720"/>
            <a:ext cx="44270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R$ 378.770,00</a:t>
            </a:r>
            <a:endParaRPr lang="en-US" sz="4200" dirty="0"/>
          </a:p>
        </p:txBody>
      </p:sp>
      <p:sp>
        <p:nvSpPr>
          <p:cNvPr id="12" name="Linha"/>
          <p:cNvSpPr/>
          <p:nvPr/>
        </p:nvSpPr>
        <p:spPr>
          <a:xfrm>
            <a:off x="1097280" y="4608576"/>
            <a:ext cx="4427068" cy="0"/>
          </a:xfrm>
          <a:prstGeom prst="line">
            <a:avLst/>
          </a:prstGeom>
          <a:noFill/>
          <a:ln w="9525">
            <a:solidFill>
              <a:srgbClr val="DCE6F2"/>
            </a:solidFill>
            <a:prstDash val="solid"/>
          </a:ln>
        </p:spPr>
      </p:sp>
      <p:pic>
        <p:nvPicPr>
          <p:cNvPr id="13" name="Ícone Clock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48006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4754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2.450 horas</a:t>
            </a:r>
            <a:endParaRPr lang="en-US" sz="1900" dirty="0"/>
          </a:p>
        </p:txBody>
      </p:sp>
      <p:sp>
        <p:nvSpPr>
          <p:cNvPr id="15" name="OPÇÃO B · PROJETO COMPLETO"/>
          <p:cNvSpPr/>
          <p:nvPr/>
        </p:nvSpPr>
        <p:spPr>
          <a:xfrm>
            <a:off x="6255868" y="2212848"/>
            <a:ext cx="5250028" cy="3127248"/>
          </a:xfrm>
          <a:prstGeom prst="roundRect">
            <a:avLst>
              <a:gd name="adj" fmla="val 2339"/>
            </a:avLst>
          </a:prstGeom>
          <a:solidFill>
            <a:schemeClr val="tx2"/>
          </a:solidFill>
          <a:ln/>
          <a:effectLst>
            <a:outerShdw sx="100000" sy="100000" kx="0" ky="0" algn="bl" rotWithShape="0" blurRad="304800" dist="76200" dir="5400000">
              <a:srgbClr val="0A2A5E">
                <a:alpha val="2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667348" y="2624328"/>
            <a:ext cx="3604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OPÇÃO B · PROJETO COMPLETO</a:t>
            </a:r>
            <a:endParaRPr lang="en-US" sz="1100" dirty="0"/>
          </a:p>
        </p:txBody>
      </p:sp>
      <p:sp>
        <p:nvSpPr>
          <p:cNvPr id="17" name="OPÇÃO B · PROJETO COMPLETO (círculo)"/>
          <p:cNvSpPr/>
          <p:nvPr/>
        </p:nvSpPr>
        <p:spPr>
          <a:xfrm>
            <a:off x="10436047" y="2505456"/>
            <a:ext cx="658368" cy="658368"/>
          </a:xfrm>
          <a:prstGeom prst="ellipse">
            <a:avLst/>
          </a:prstGeom>
          <a:ln w="9525">
            <a:solidFill>
              <a:srgbClr val="3FC1E8">
                <a:alpha val="75000"/>
              </a:srgbClr>
            </a:solidFill>
            <a:prstDash val="solid"/>
          </a:ln>
        </p:spPr>
      </p:sp>
      <p:pic>
        <p:nvPicPr>
          <p:cNvPr id="18" name="Ícone StackPlus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0639" y="2670048"/>
            <a:ext cx="329184" cy="329184"/>
          </a:xfrm>
          <a:prstGeom prst="rect">
            <a:avLst/>
          </a:prstGeom>
        </p:spPr>
      </p:pic>
      <p:sp>
        <p:nvSpPr>
          <p:cNvPr id="19" name="Escopo"/>
          <p:cNvSpPr/>
          <p:nvPr/>
        </p:nvSpPr>
        <p:spPr>
          <a:xfrm>
            <a:off x="6667348" y="2990088"/>
            <a:ext cx="1412748" cy="292608"/>
          </a:xfrm>
          <a:prstGeom prst="roundRect">
            <a:avLst>
              <a:gd name="adj" fmla="val 50000"/>
            </a:avLst>
          </a:prstGeom>
          <a:ln w="9525">
            <a:solidFill>
              <a:srgbClr val="3FC1E8">
                <a:alpha val="70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67348" y="2990088"/>
            <a:ext cx="1412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Ondas 1 e 2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667348" y="3474720"/>
            <a:ext cx="44270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R$ 415.564,80</a:t>
            </a:r>
            <a:endParaRPr lang="en-US" sz="4200" dirty="0"/>
          </a:p>
        </p:txBody>
      </p:sp>
      <p:sp>
        <p:nvSpPr>
          <p:cNvPr id="22" name="Text 17"/>
          <p:cNvSpPr txBox="1"/>
          <p:nvPr/>
        </p:nvSpPr>
        <p:spPr>
          <a:xfrm>
            <a:off x="6667348" y="4206240"/>
            <a:ext cx="44270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D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(R$ 378.770,00 + R$ 36.795,00)</a:t>
            </a:r>
            <a:endParaRPr lang="en-US" sz="1200" dirty="0"/>
          </a:p>
        </p:txBody>
      </p:sp>
      <p:sp>
        <p:nvSpPr>
          <p:cNvPr id="23" name="Linha"/>
          <p:cNvSpPr/>
          <p:nvPr/>
        </p:nvSpPr>
        <p:spPr>
          <a:xfrm>
            <a:off x="6667348" y="4608576"/>
            <a:ext cx="4427068" cy="0"/>
          </a:xfrm>
          <a:prstGeom prst="line">
            <a:avLst/>
          </a:prstGeom>
          <a:noFill/>
          <a:ln w="9525">
            <a:solidFill>
              <a:srgbClr val="2C4D86"/>
            </a:solidFill>
            <a:prstDash val="solid"/>
          </a:ln>
        </p:spPr>
      </p:sp>
      <p:pic>
        <p:nvPicPr>
          <p:cNvPr id="24" name="Ícone Clock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348" y="480060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24548" y="4754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2.688 horas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5760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27" name="Etapa T&amp;M 1"/>
          <p:cNvSpPr/>
          <p:nvPr/>
        </p:nvSpPr>
        <p:spPr>
          <a:xfrm>
            <a:off x="2468880" y="5577840"/>
            <a:ext cx="2651760" cy="585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8" name="Horas medidas (círculo)"/>
          <p:cNvSpPr/>
          <p:nvPr/>
        </p:nvSpPr>
        <p:spPr>
          <a:xfrm>
            <a:off x="2560320" y="5669280"/>
            <a:ext cx="402336" cy="402336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29" name="Ícone Timer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0904" y="576986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108960" y="55778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Horas medidas</a:t>
            </a:r>
            <a:endParaRPr lang="en-US" sz="1400" dirty="0"/>
          </a:p>
        </p:txBody>
      </p:sp>
      <p:pic>
        <p:nvPicPr>
          <p:cNvPr id="31" name="Ícone CaretRight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21224" y="5733288"/>
            <a:ext cx="274320" cy="274320"/>
          </a:xfrm>
          <a:prstGeom prst="rect">
            <a:avLst/>
          </a:prstGeom>
        </p:spPr>
      </p:pic>
      <p:sp>
        <p:nvSpPr>
          <p:cNvPr id="32" name="Etapa T&amp;M 2"/>
          <p:cNvSpPr/>
          <p:nvPr/>
        </p:nvSpPr>
        <p:spPr>
          <a:xfrm>
            <a:off x="5577840" y="5577840"/>
            <a:ext cx="2651760" cy="585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3" name="Horas aprovadas (círculo)"/>
          <p:cNvSpPr/>
          <p:nvPr/>
        </p:nvSpPr>
        <p:spPr>
          <a:xfrm>
            <a:off x="5669280" y="5669280"/>
            <a:ext cx="402336" cy="402336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34" name="Ícone CheckCircle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69864" y="5769864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217920" y="55778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Horas aprovadas</a:t>
            </a:r>
            <a:endParaRPr lang="en-US" sz="1400" dirty="0"/>
          </a:p>
        </p:txBody>
      </p:sp>
      <p:pic>
        <p:nvPicPr>
          <p:cNvPr id="36" name="Ícone CaretRight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30184" y="5733288"/>
            <a:ext cx="274320" cy="274320"/>
          </a:xfrm>
          <a:prstGeom prst="rect">
            <a:avLst/>
          </a:prstGeom>
        </p:spPr>
      </p:pic>
      <p:sp>
        <p:nvSpPr>
          <p:cNvPr id="37" name="Etapa T&amp;M 3"/>
          <p:cNvSpPr/>
          <p:nvPr/>
        </p:nvSpPr>
        <p:spPr>
          <a:xfrm>
            <a:off x="8686800" y="5577840"/>
            <a:ext cx="2651760" cy="585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8" name="Faturamento (círculo)"/>
          <p:cNvSpPr/>
          <p:nvPr/>
        </p:nvSpPr>
        <p:spPr>
          <a:xfrm>
            <a:off x="8778240" y="5669280"/>
            <a:ext cx="402336" cy="402336"/>
          </a:xfrm>
          <a:prstGeom prst="ellipse">
            <a:avLst/>
          </a:prstGeom>
          <a:solidFill>
            <a:schemeClr val="bg2"/>
          </a:solidFill>
          <a:ln w="9525">
            <a:solidFill>
              <a:srgbClr val="DCE6F2"/>
            </a:solidFill>
            <a:prstDash val="solid"/>
          </a:ln>
        </p:spPr>
      </p:sp>
      <p:pic>
        <p:nvPicPr>
          <p:cNvPr id="39" name="Ícone Receipt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78824" y="5769864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9326880" y="55778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Faturamento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– INVESTIMENTO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Rateio por casa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 para apoiar a decisão.</a:t>
            </a:r>
            <a:endParaRPr lang="en-US" sz="1400" dirty="0"/>
          </a:p>
        </p:txBody>
      </p:sp>
      <p:graphicFrame>
        <p:nvGraphicFramePr>
          <p:cNvPr id="5" name="Gráfico rateio" descr=""/>
          <p:cNvGraphicFramePr/>
          <p:nvPr/>
        </p:nvGraphicFramePr>
        <p:xfrm>
          <a:off x="685800" y="233172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33,33%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330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casa</a:t>
            </a:r>
            <a:endParaRPr lang="en-US" sz="1100" dirty="0"/>
          </a:p>
        </p:txBody>
      </p:sp>
      <p:sp>
        <p:nvSpPr>
          <p:cNvPr id="8" name="Cartão tabela"/>
          <p:cNvSpPr/>
          <p:nvPr/>
        </p:nvSpPr>
        <p:spPr>
          <a:xfrm>
            <a:off x="4434840" y="2286000"/>
            <a:ext cx="7071055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graphicFrame>
        <p:nvGraphicFramePr>
          <p:cNvPr id="9" name="Tabela rate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47188"/>
          <a:ext cx="6522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25880"/>
                <a:gridCol w="1408176"/>
                <a:gridCol w="1410919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6B7A9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CASA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347472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6B7A9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PORCENTAGEM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6B7A9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OPÇÃO A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1660C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OPÇÃO B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FIEPA (IEL, Observatório, REDES e CIN)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47472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33,33%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R$ 126.256,67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R$ 138.521,60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47472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33,33%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R$ 126.256,67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R$ 138.521,60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SENAI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47472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33,33%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R$ 126.256,67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R$ 138.521,60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A2A5E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TOTAL</a:t>
                      </a:r>
                      <a:endParaRPr lang="en-US" sz="13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347472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0A2A5E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100%</a:t>
                      </a:r>
                      <a:endParaRPr lang="en-US" sz="13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0A2A5E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R$ 378.770,00</a:t>
                      </a:r>
                      <a:endParaRPr lang="en-US" sz="13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0A2A5E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R$ 415.564,80</a:t>
                      </a:r>
                      <a:endParaRPr lang="en-US" sz="13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A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Legenda FIEPA"/>
          <p:cNvSpPr/>
          <p:nvPr/>
        </p:nvSpPr>
        <p:spPr>
          <a:xfrm>
            <a:off x="4818888" y="3351276"/>
            <a:ext cx="128016" cy="128016"/>
          </a:xfrm>
          <a:prstGeom prst="ellipse">
            <a:avLst/>
          </a:prstGeom>
          <a:solidFill>
            <a:srgbClr val="0A2A5E"/>
          </a:solidFill>
          <a:ln/>
        </p:spPr>
      </p:sp>
      <p:sp>
        <p:nvSpPr>
          <p:cNvPr id="11" name="Legenda SESI"/>
          <p:cNvSpPr/>
          <p:nvPr/>
        </p:nvSpPr>
        <p:spPr>
          <a:xfrm>
            <a:off x="4818888" y="3973068"/>
            <a:ext cx="128016" cy="128016"/>
          </a:xfrm>
          <a:prstGeom prst="ellipse">
            <a:avLst/>
          </a:prstGeom>
          <a:solidFill>
            <a:srgbClr val="1660C4"/>
          </a:solidFill>
          <a:ln/>
        </p:spPr>
      </p:sp>
      <p:sp>
        <p:nvSpPr>
          <p:cNvPr id="12" name="Legenda SENAI"/>
          <p:cNvSpPr/>
          <p:nvPr/>
        </p:nvSpPr>
        <p:spPr>
          <a:xfrm>
            <a:off x="4818888" y="4503420"/>
            <a:ext cx="128016" cy="128016"/>
          </a:xfrm>
          <a:prstGeom prst="ellipse">
            <a:avLst/>
          </a:prstGeom>
          <a:solidFill>
            <a:srgbClr val="8EC5F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– ESCOPO</a:t>
            </a:r>
            <a:endParaRPr lang="en-US" sz="105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85800" y="8412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que não está incluído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85800" y="1517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Limites da proposta.</a:t>
            </a:r>
            <a:endParaRPr lang="en-US" sz="1400" dirty="0"/>
          </a:p>
        </p:txBody>
      </p:sp>
      <p:sp>
        <p:nvSpPr>
          <p:cNvPr id="5" name="Limite 1"/>
          <p:cNvSpPr/>
          <p:nvPr/>
        </p:nvSpPr>
        <p:spPr>
          <a:xfrm>
            <a:off x="685800" y="2286000"/>
            <a:ext cx="525002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6" name="Destaque 1"/>
          <p:cNvSpPr/>
          <p:nvPr/>
        </p:nvSpPr>
        <p:spPr>
          <a:xfrm>
            <a:off x="795528" y="2395728"/>
            <a:ext cx="1554480" cy="1563624"/>
          </a:xfrm>
          <a:prstGeom prst="roundRect">
            <a:avLst>
              <a:gd name="adj" fmla="val 3529"/>
            </a:avLst>
          </a:prstGeom>
          <a:solidFill>
            <a:srgbClr val="FBF1F0"/>
          </a:solidFill>
          <a:ln/>
        </p:spPr>
      </p:sp>
      <p:sp>
        <p:nvSpPr>
          <p:cNvPr id="7" name="Limite 1 (círculo)"/>
          <p:cNvSpPr/>
          <p:nvPr/>
        </p:nvSpPr>
        <p:spPr>
          <a:xfrm>
            <a:off x="1207008" y="2670048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rgbClr val="F0D5D2"/>
            </a:solidFill>
            <a:prstDash val="solid"/>
          </a:ln>
        </p:spPr>
      </p:sp>
      <p:pic>
        <p:nvPicPr>
          <p:cNvPr id="8" name="Ícone CloudSlash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9888" y="28529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" y="35204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Não incluído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670048"/>
            <a:ext cx="2964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FORA DO ESCOPO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980944"/>
            <a:ext cx="29640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Licenças Dynamics 365 e consumo Azure não estão incluídos.</a:t>
            </a:r>
            <a:endParaRPr lang="en-US" sz="1600" dirty="0"/>
          </a:p>
        </p:txBody>
      </p:sp>
      <p:sp>
        <p:nvSpPr>
          <p:cNvPr id="12" name="Limite 2"/>
          <p:cNvSpPr/>
          <p:nvPr/>
        </p:nvSpPr>
        <p:spPr>
          <a:xfrm>
            <a:off x="6255868" y="2286000"/>
            <a:ext cx="525002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13" name="Destaque 2"/>
          <p:cNvSpPr/>
          <p:nvPr/>
        </p:nvSpPr>
        <p:spPr>
          <a:xfrm>
            <a:off x="6365596" y="2395728"/>
            <a:ext cx="1554480" cy="1563624"/>
          </a:xfrm>
          <a:prstGeom prst="roundRect">
            <a:avLst>
              <a:gd name="adj" fmla="val 3529"/>
            </a:avLst>
          </a:prstGeom>
          <a:solidFill>
            <a:srgbClr val="F1F6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65596" y="25603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40</a:t>
            </a:r>
            <a:endParaRPr lang="en-US" sz="5200" dirty="0"/>
          </a:p>
        </p:txBody>
      </p:sp>
      <p:sp>
        <p:nvSpPr>
          <p:cNvPr id="15" name="Text 12"/>
          <p:cNvSpPr txBox="1"/>
          <p:nvPr/>
        </p:nvSpPr>
        <p:spPr>
          <a:xfrm>
            <a:off x="6365596" y="3493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úteis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67548" y="2670048"/>
            <a:ext cx="2964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MOBILIZAÇÃO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267548" y="2980944"/>
            <a:ext cx="29640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equipe pode ser mobilizada em até 40 dias úteis após aceite e assinatura.</a:t>
            </a:r>
            <a:endParaRPr lang="en-US" sz="1600" dirty="0"/>
          </a:p>
        </p:txBody>
      </p:sp>
      <p:sp>
        <p:nvSpPr>
          <p:cNvPr id="18" name="Limite 3"/>
          <p:cNvSpPr/>
          <p:nvPr/>
        </p:nvSpPr>
        <p:spPr>
          <a:xfrm>
            <a:off x="685800" y="4343400"/>
            <a:ext cx="525002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19" name="Destaque 3"/>
          <p:cNvSpPr/>
          <p:nvPr/>
        </p:nvSpPr>
        <p:spPr>
          <a:xfrm>
            <a:off x="795528" y="4453128"/>
            <a:ext cx="1554480" cy="1563624"/>
          </a:xfrm>
          <a:prstGeom prst="roundRect">
            <a:avLst>
              <a:gd name="adj" fmla="val 3529"/>
            </a:avLst>
          </a:prstGeom>
          <a:solidFill>
            <a:srgbClr val="F1F6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95528" y="4617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chemeClr val="accent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</a:t>
            </a:r>
            <a:endParaRPr lang="en-US" sz="52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" y="5550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úteis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697480" y="4727448"/>
            <a:ext cx="2964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APROVAÇÃO DE HORAS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5038344"/>
            <a:ext cx="29640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Horas medidas mensalmente; a FIEPA tem até 5 dias úteis para aprovar o relatório.</a:t>
            </a:r>
            <a:endParaRPr lang="en-US" sz="1600" dirty="0"/>
          </a:p>
        </p:txBody>
      </p:sp>
      <p:sp>
        <p:nvSpPr>
          <p:cNvPr id="24" name="Limite 4"/>
          <p:cNvSpPr/>
          <p:nvPr/>
        </p:nvSpPr>
        <p:spPr>
          <a:xfrm>
            <a:off x="6255868" y="4343400"/>
            <a:ext cx="525002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CE6F2"/>
            </a:solidFill>
            <a:prstDash val="solid"/>
          </a:ln>
          <a:effectLst>
            <a:outerShdw sx="100000" sy="100000" kx="0" ky="0" algn="bl" rotWithShape="0" blurRad="228600" dist="38100" dir="5400000">
              <a:srgbClr val="0A2A5E">
                <a:alpha val="7000"/>
              </a:srgbClr>
            </a:outerShdw>
          </a:effectLst>
        </p:spPr>
      </p:sp>
      <p:sp>
        <p:nvSpPr>
          <p:cNvPr id="25" name="Destaque 4"/>
          <p:cNvSpPr/>
          <p:nvPr/>
        </p:nvSpPr>
        <p:spPr>
          <a:xfrm>
            <a:off x="6365596" y="4453128"/>
            <a:ext cx="1554480" cy="1563624"/>
          </a:xfrm>
          <a:prstGeom prst="roundRect">
            <a:avLst>
              <a:gd name="adj" fmla="val 3529"/>
            </a:avLst>
          </a:prstGeom>
          <a:solidFill>
            <a:srgbClr val="FBF1F0"/>
          </a:solidFill>
          <a:ln/>
        </p:spPr>
      </p:sp>
      <p:sp>
        <p:nvSpPr>
          <p:cNvPr id="26" name="Limite 4 (círculo)"/>
          <p:cNvSpPr/>
          <p:nvPr/>
        </p:nvSpPr>
        <p:spPr>
          <a:xfrm>
            <a:off x="6777076" y="4727448"/>
            <a:ext cx="731520" cy="731520"/>
          </a:xfrm>
          <a:prstGeom prst="ellipse">
            <a:avLst/>
          </a:prstGeom>
          <a:solidFill>
            <a:schemeClr val="bg1"/>
          </a:solidFill>
          <a:ln w="9525">
            <a:solidFill>
              <a:srgbClr val="F0D5D2"/>
            </a:solidFill>
            <a:prstDash val="solid"/>
          </a:ln>
        </p:spPr>
      </p:sp>
      <p:pic>
        <p:nvPicPr>
          <p:cNvPr id="27" name="Ícone Headset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9956" y="4910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365596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Não incluído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8267548" y="4727448"/>
            <a:ext cx="2964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FORA DO ESCOPO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267548" y="5038344"/>
            <a:ext cx="29640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Sustentação após a Onda 2 e integração com WhatsApp não estão incluídas.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9AD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Órbita"/>
          <p:cNvSpPr/>
          <p:nvPr/>
        </p:nvSpPr>
        <p:spPr>
          <a:xfrm>
            <a:off x="7178040" y="1188720"/>
            <a:ext cx="4480560" cy="4480560"/>
          </a:xfrm>
          <a:prstGeom prst="ellipse">
            <a:avLst/>
          </a:prstGeom>
          <a:solidFill>
            <a:schemeClr val="bg1">
              <a:alpha val="4000"/>
            </a:schemeClr>
          </a:solidFill>
          <a:ln/>
        </p:spPr>
      </p:sp>
      <p:sp>
        <p:nvSpPr>
          <p:cNvPr id="3" name="Órbita"/>
          <p:cNvSpPr/>
          <p:nvPr/>
        </p:nvSpPr>
        <p:spPr>
          <a:xfrm>
            <a:off x="7498080" y="1508760"/>
            <a:ext cx="3840480" cy="3840480"/>
          </a:xfrm>
          <a:prstGeom prst="ellipse">
            <a:avLst/>
          </a:prstGeom>
          <a:ln w="9525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4" name="Órbita"/>
          <p:cNvSpPr/>
          <p:nvPr/>
        </p:nvSpPr>
        <p:spPr>
          <a:xfrm>
            <a:off x="8161020" y="2171700"/>
            <a:ext cx="2514600" cy="2514600"/>
          </a:xfrm>
          <a:prstGeom prst="ellipse">
            <a:avLst/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Núcleo CRM"/>
          <p:cNvSpPr/>
          <p:nvPr/>
        </p:nvSpPr>
        <p:spPr>
          <a:xfrm>
            <a:off x="8705088" y="2715768"/>
            <a:ext cx="1426464" cy="1426464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3048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Ícone UsersThree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34272" y="3044952"/>
            <a:ext cx="768096" cy="768096"/>
          </a:xfrm>
          <a:prstGeom prst="rect">
            <a:avLst/>
          </a:prstGeom>
        </p:spPr>
      </p:pic>
      <p:sp>
        <p:nvSpPr>
          <p:cNvPr id="7" name="Órbita Handshake (círculo)"/>
          <p:cNvSpPr/>
          <p:nvPr/>
        </p:nvSpPr>
        <p:spPr>
          <a:xfrm>
            <a:off x="9116568" y="1207008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8" name="Ícone Handshake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67444" y="1357884"/>
            <a:ext cx="301752" cy="301752"/>
          </a:xfrm>
          <a:prstGeom prst="rect">
            <a:avLst/>
          </a:prstGeom>
        </p:spPr>
      </p:pic>
      <p:sp>
        <p:nvSpPr>
          <p:cNvPr id="9" name="Órbita ChartPieSlice (círculo)"/>
          <p:cNvSpPr/>
          <p:nvPr/>
        </p:nvSpPr>
        <p:spPr>
          <a:xfrm>
            <a:off x="10942825" y="2533861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0" name="Ícone ChartPieSlice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3701" y="2684737"/>
            <a:ext cx="301752" cy="301752"/>
          </a:xfrm>
          <a:prstGeom prst="rect">
            <a:avLst/>
          </a:prstGeom>
        </p:spPr>
      </p:pic>
      <p:sp>
        <p:nvSpPr>
          <p:cNvPr id="11" name="Órbita Target (círculo)"/>
          <p:cNvSpPr/>
          <p:nvPr/>
        </p:nvSpPr>
        <p:spPr>
          <a:xfrm>
            <a:off x="10245257" y="4680755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2" name="Ícone Target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6133" y="4831631"/>
            <a:ext cx="301752" cy="301752"/>
          </a:xfrm>
          <a:prstGeom prst="rect">
            <a:avLst/>
          </a:prstGeom>
        </p:spPr>
      </p:pic>
      <p:sp>
        <p:nvSpPr>
          <p:cNvPr id="13" name="Órbita Files (círculo)"/>
          <p:cNvSpPr/>
          <p:nvPr/>
        </p:nvSpPr>
        <p:spPr>
          <a:xfrm>
            <a:off x="7987879" y="4680755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4" name="Ícone Files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8755" y="4831631"/>
            <a:ext cx="301752" cy="301752"/>
          </a:xfrm>
          <a:prstGeom prst="rect">
            <a:avLst/>
          </a:prstGeom>
        </p:spPr>
      </p:pic>
      <p:sp>
        <p:nvSpPr>
          <p:cNvPr id="15" name="Órbita CurrencyCircleDollar (círculo)"/>
          <p:cNvSpPr/>
          <p:nvPr/>
        </p:nvSpPr>
        <p:spPr>
          <a:xfrm>
            <a:off x="7290311" y="2533861"/>
            <a:ext cx="603504" cy="603504"/>
          </a:xfrm>
          <a:prstGeom prst="ellipse">
            <a:avLst/>
          </a:prstGeom>
          <a:solidFill>
            <a:srgbClr val="0A2A5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6" name="Ícone CurrencyCircleDollar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41187" y="2684737"/>
            <a:ext cx="301752" cy="301752"/>
          </a:xfrm>
          <a:prstGeom prst="rect">
            <a:avLst/>
          </a:prstGeom>
        </p:spPr>
      </p:pic>
      <p:sp>
        <p:nvSpPr>
          <p:cNvPr id="17" name="Órbita Funnel (círculo)"/>
          <p:cNvSpPr/>
          <p:nvPr/>
        </p:nvSpPr>
        <p:spPr>
          <a:xfrm>
            <a:off x="10389484" y="3648710"/>
            <a:ext cx="420624" cy="420624"/>
          </a:xfrm>
          <a:prstGeom prst="ellipse">
            <a:avLst/>
          </a:prstGeom>
          <a:solidFill>
            <a:srgbClr val="0A2A5E"/>
          </a:solidFill>
          <a:ln w="9525">
            <a:solidFill>
              <a:srgbClr val="3FC1E8">
                <a:alpha val="70000"/>
              </a:srgbClr>
            </a:solidFill>
            <a:prstDash val="solid"/>
          </a:ln>
        </p:spPr>
      </p:sp>
      <p:pic>
        <p:nvPicPr>
          <p:cNvPr id="18" name="Ícone Funnel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4640" y="3753866"/>
            <a:ext cx="210312" cy="210312"/>
          </a:xfrm>
          <a:prstGeom prst="rect">
            <a:avLst/>
          </a:prstGeom>
        </p:spPr>
      </p:pic>
      <p:sp>
        <p:nvSpPr>
          <p:cNvPr id="19" name="Órbita ShieldCheck (círculo)"/>
          <p:cNvSpPr/>
          <p:nvPr/>
        </p:nvSpPr>
        <p:spPr>
          <a:xfrm>
            <a:off x="8026532" y="2788666"/>
            <a:ext cx="420624" cy="420624"/>
          </a:xfrm>
          <a:prstGeom prst="ellipse">
            <a:avLst/>
          </a:prstGeom>
          <a:solidFill>
            <a:srgbClr val="0A2A5E"/>
          </a:solidFill>
          <a:ln w="9525">
            <a:solidFill>
              <a:srgbClr val="3FC1E8">
                <a:alpha val="70000"/>
              </a:srgbClr>
            </a:solidFill>
            <a:prstDash val="solid"/>
          </a:ln>
        </p:spPr>
      </p:sp>
      <p:pic>
        <p:nvPicPr>
          <p:cNvPr id="20" name="Ícone ShieldCheck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31688" y="2893822"/>
            <a:ext cx="210312" cy="210312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85800" y="2286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Obrigado!</a:t>
            </a:r>
            <a:endParaRPr lang="en-US" sz="7000" dirty="0"/>
          </a:p>
        </p:txBody>
      </p:sp>
      <p:sp>
        <p:nvSpPr>
          <p:cNvPr id="22" name="Text 12"/>
          <p:cNvSpPr txBox="1"/>
          <p:nvPr/>
        </p:nvSpPr>
        <p:spPr>
          <a:xfrm>
            <a:off x="68580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Reimplantação CRM Dynamics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3D3E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Gestão comercial integrada para o Sistema FIEPA</a:t>
            </a:r>
            <a:endParaRPr lang="en-US" sz="1800" dirty="0"/>
          </a:p>
        </p:txBody>
      </p:sp>
      <p:pic>
        <p:nvPicPr>
          <p:cNvPr id="23" name="Logo FIEPA" descr="assets/logo_whi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5760720"/>
            <a:ext cx="1828800" cy="3163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EPA CRM">
  <a:themeElements>
    <a:clrScheme name="FIEPA CRM">
      <a:dk1>
        <a:srgbClr val="1B2A41"/>
      </a:dk1>
      <a:lt1>
        <a:srgbClr val="FFFFFF"/>
      </a:lt1>
      <a:dk2>
        <a:srgbClr val="0A2A5E"/>
      </a:dk2>
      <a:lt2>
        <a:srgbClr val="F1F6FC"/>
      </a:lt2>
      <a:accent1>
        <a:srgbClr val="1660C4"/>
      </a:accent1>
      <a:accent2>
        <a:srgbClr val="6B7A90"/>
      </a:accent2>
      <a:accent3>
        <a:srgbClr val="8EC5F2"/>
      </a:accent3>
      <a:accent4>
        <a:srgbClr val="DCE6F2"/>
      </a:accent4>
      <a:accent5>
        <a:srgbClr val="3FC1E8"/>
      </a:accent5>
      <a:accent6>
        <a:srgbClr val="C2453E"/>
      </a:accent6>
      <a:hlink>
        <a:srgbClr val="1660C4"/>
      </a:hlink>
      <a:folHlink>
        <a:srgbClr val="6B7A90"/>
      </a:folHlink>
    </a:clrScheme>
    <a:fontScheme name="FIEPA CRM">
      <a:majorFont>
        <a:latin typeface="Segoe U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FIEPA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Reimplantação CRM Dynamics</dc:title>
  <dc:subject>PptxGenJS Presentation</dc:subject>
  <dc:creator>Sistema FIEPA</dc:creator>
  <cp:lastModifiedBy>Sistema FIEPA</cp:lastModifiedBy>
  <cp:revision>1</cp:revision>
  <dcterms:created xsi:type="dcterms:W3CDTF">2026-10-21T18:24:38Z</dcterms:created>
  <dcterms:modified xsi:type="dcterms:W3CDTF">2026-10-21T18:24:38Z</dcterms:modified>
</cp:coreProperties>
</file>