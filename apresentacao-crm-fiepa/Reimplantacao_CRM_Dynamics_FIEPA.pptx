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apa" id="{73db29f6-acd1-4ec4-b8a9-ed86353352f7}">
          <p14:sldIdLst>
            <p14:sldId id="256"/>
          </p14:sldIdLst>
        </p14:section>
        <p14:section name="Agenda" id="{9eb4b12c-6b36-b364-9bf2-7c83550c581d}">
          <p14:sldIdLst>
            <p14:sldId id="257"/>
          </p14:sldIdLst>
        </p14:section>
        <p14:section name="01 – Justificativa" id="{263140c3-e75c-48f8-7e54-dc23a19ce89c}">
          <p14:sldIdLst>
            <p14:sldId id="258"/>
          </p14:sldIdLst>
        </p14:section>
        <p14:section name="02 – Valor para a gestão" id="{90f3d8e1-caba-9966-de13-95f0a56b0ab6}">
          <p14:sldIdLst>
            <p14:sldId id="259"/>
          </p14:sldIdLst>
        </p14:section>
        <p14:section name="03 – Integrações e controle" id="{22296671-ff1a-04a4-5816-e93751c20819}">
          <p14:sldIdLst>
            <p14:sldId id="260"/>
          </p14:sldIdLst>
        </p14:section>
        <p14:section name="04 – Entregas" id="{8a6c7912-4bfa-ebac-82ce-a06dbd884a2d}">
          <p14:sldIdLst>
            <p14:sldId id="261"/>
          </p14:sldIdLst>
        </p14:section>
        <p14:section name="05 – Investimento" id="{4c00ee5a-88b8-c6dd-2664-328ba15bd430}">
          <p14:sldIdLst>
            <p14:sldId id="262"/>
            <p14:sldId id="263"/>
          </p14:sldIdLst>
        </p14:section>
        <p14:section name="06 – Escopo" id="{7433f6e1-399f-a3c3-059f-38817e4d20b9}">
          <p14:sldIdLst>
            <p14:sldId id="264"/>
          </p14:sldIdLst>
        </p14:section>
        <p14:section name="Encerramento" id="{10ef47c1-5add-1a6f-d22d-71674f201f11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Rateio por casa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A2A5E"/>
              </a:solidFill>
              <a:ln w="317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1660C4"/>
              </a:solidFill>
              <a:ln w="317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8EC5F2"/>
              </a:solidFill>
              <a:ln w="317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FIEPA</c:v>
                </c:pt>
                <c:pt idx="1">
                  <c:v>SESI</c:v>
                </c:pt>
                <c:pt idx="2">
                  <c:v>SENAI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33.33</c:v>
                </c:pt>
                <c:pt idx="1">
                  <c:v>33.33</c:v>
                </c:pt>
                <c:pt idx="2">
                  <c:v>33.33</c:v>
                </c:pt>
              </c:numCache>
            </c:numRef>
          </c:val>
        </c:ser>
        <c:firstSliceAng val="0"/>
        <c:holeSize val="8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a proposta de reimplantação do CRM Dynamics para o Sistema FIEPA, apoiada em três pilares — processo único, visão integrada e controle e gestão.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Roteiro da apresentação em seis blocos: justificativa, valor para a gestão, integrações e controle, entregas, investimento e escopo.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problemas do CRM atual: processo desalinhado, baixa visão gerencial e retrabalho/legado. A consequência é menor capacidade de acompanhar oportunidades, padronizar decisões e planejar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ganho vai além da atualização técnica: cliente 360º, governança, decisão apoiada em metas e previsão, e eficiência com menos controles paralelos.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Dynamics 365 Sales é o centro: integra-se ao F&amp;SCM (contas nos dois sentidos), ao CRM Nacional da CNI, ao Outlook/Teams e ao SharePoint. A consulta por CNPJ entra na Onda 2. Segurança: segregação por entidade, perfis e hierarquia, campos sensíveis protegidos e auditoria.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ondas. Onda 1 (18 semanas, ~4 meses): o núcleo comercial completo — regras, ambientes, fluxo de vendas, alçadas, Power BI, integrações e migração. Onda 2 (4 semanas, ~1 mês): painéis avançados e cadastro por CNPJ.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Opção A cobre a Onda 1 (núcleo comercial); a Opção B inclui as duas ondas. Modelo Time &amp; Materials: o faturamento acompanha as horas medidas e aprovadas.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investimento é dividido igualmente entre FIEPA, SESI e SENAI (33,33% cada) nas duas opções.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Limites da proposta: licenças e Azure fora do escopo; mobilização em até 40 dias úteis após aceite e assinatura; horas medidas mensalmente, com até 5 dias úteis para aprovação; sustentação pós-Onda 2 e WhatsApp fora do escopo.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e abertura para dúvidas.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FIEPA-Conteudo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FIEPA-Limpo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FIEPA-Escuro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EPA Conteu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0152" y="566928"/>
            <a:ext cx="1143000" cy="197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008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9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Reimplantação CRM Dynamics  ·  Sistema FIEPA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685800" y="566928"/>
            <a:ext cx="73152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50" spc="150" kern="0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defRPr>
            </a:lvl1pPr>
          </a:lstStyle>
          <a:p>
            <a:pPr indent="0" marL="0">
              <a:buNone/>
            </a:pPr>
            <a:endParaRPr lang="en-US" sz="105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85800" y="841248"/>
            <a:ext cx="93268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85800" y="1517904"/>
            <a:ext cx="91440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640080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9AD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EPA Limpo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4008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9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Reimplantação CRM Dynamics  ·  Sistema FIEPA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640080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9AD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EPA Escuro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640080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9AD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FIEPA" descr="assets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40080"/>
            <a:ext cx="1828800" cy="31638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21031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chemeClr val="accent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PROPOSTA  ·  SISTEMA FIEPA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2395728"/>
            <a:ext cx="82296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5800" dirty="0">
                <a:solidFill>
                  <a:schemeClr val="bg1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Reimplantação</a:t>
            </a:r>
            <a:endParaRPr lang="en-US" sz="5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5800" dirty="0">
                <a:solidFill>
                  <a:schemeClr val="bg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CRM Dynamics</a:t>
            </a:r>
            <a:endParaRPr lang="en-US" sz="58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42245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8EE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Gestão comercial integrada para o Sistema FIEPA</a:t>
            </a:r>
            <a:endParaRPr lang="en-US" sz="1800" dirty="0"/>
          </a:p>
        </p:txBody>
      </p:sp>
      <p:sp>
        <p:nvSpPr>
          <p:cNvPr id="6" name="Linha"/>
          <p:cNvSpPr/>
          <p:nvPr/>
        </p:nvSpPr>
        <p:spPr>
          <a:xfrm>
            <a:off x="685800" y="5257800"/>
            <a:ext cx="3332378" cy="0"/>
          </a:xfrm>
          <a:prstGeom prst="line">
            <a:avLst/>
          </a:prstGeom>
          <a:noFill/>
          <a:ln w="9525">
            <a:solidFill>
              <a:srgbClr val="5B7B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54589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43000" y="5458968"/>
            <a:ext cx="28751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bg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PROCESSO ÚNICO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5733288"/>
            <a:ext cx="2875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8EE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Etapas e regras comerciais comuns</a:t>
            </a:r>
            <a:endParaRPr lang="en-US" sz="1400" dirty="0"/>
          </a:p>
        </p:txBody>
      </p:sp>
      <p:sp>
        <p:nvSpPr>
          <p:cNvPr id="10" name="Linha"/>
          <p:cNvSpPr/>
          <p:nvPr/>
        </p:nvSpPr>
        <p:spPr>
          <a:xfrm>
            <a:off x="4429658" y="5257800"/>
            <a:ext cx="3332378" cy="0"/>
          </a:xfrm>
          <a:prstGeom prst="line">
            <a:avLst/>
          </a:prstGeom>
          <a:noFill/>
          <a:ln w="9525">
            <a:solidFill>
              <a:srgbClr val="5B7B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429658" y="54589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886858" y="5458968"/>
            <a:ext cx="28751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bg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VISÃO INTEGRADA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886858" y="5733288"/>
            <a:ext cx="2875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8EE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de clientes e oportunidades</a:t>
            </a:r>
            <a:endParaRPr lang="en-US" sz="1400" dirty="0"/>
          </a:p>
        </p:txBody>
      </p:sp>
      <p:sp>
        <p:nvSpPr>
          <p:cNvPr id="14" name="Linha"/>
          <p:cNvSpPr/>
          <p:nvPr/>
        </p:nvSpPr>
        <p:spPr>
          <a:xfrm>
            <a:off x="8173517" y="5257800"/>
            <a:ext cx="3332378" cy="0"/>
          </a:xfrm>
          <a:prstGeom prst="line">
            <a:avLst/>
          </a:prstGeom>
          <a:noFill/>
          <a:ln w="9525">
            <a:solidFill>
              <a:srgbClr val="5B7BB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173517" y="54589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630717" y="5458968"/>
            <a:ext cx="28751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bg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CONTROLE E GESTÃO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630717" y="5733288"/>
            <a:ext cx="2875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8EE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Indicadores e rastreabilidade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FIEPA" descr="assets/logo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143000" cy="19751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23774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ROTEIRO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265176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Agenda</a:t>
            </a:r>
            <a:endParaRPr lang="en-US" sz="48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3520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Reimplantação CRM Dynamics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846320" y="9601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715000" y="932688"/>
            <a:ext cx="5790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50" kern="0" dirty="0">
                <a:solidFill>
                  <a:schemeClr val="accent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JUSTIFICATIVA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5715000" y="1161288"/>
            <a:ext cx="5790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O CRM atual limita a gestão comercial</a:t>
            </a:r>
            <a:endParaRPr lang="en-US" sz="1900" dirty="0"/>
          </a:p>
        </p:txBody>
      </p:sp>
      <p:sp>
        <p:nvSpPr>
          <p:cNvPr id="9" name="Linha"/>
          <p:cNvSpPr/>
          <p:nvPr/>
        </p:nvSpPr>
        <p:spPr>
          <a:xfrm>
            <a:off x="4846320" y="1645920"/>
            <a:ext cx="6659575" cy="0"/>
          </a:xfrm>
          <a:prstGeom prst="line">
            <a:avLst/>
          </a:prstGeom>
          <a:noFill/>
          <a:ln w="9525">
            <a:solidFill>
              <a:srgbClr val="D9E2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46320" y="18288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02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5715000" y="1801368"/>
            <a:ext cx="5790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50" kern="0" dirty="0">
                <a:solidFill>
                  <a:schemeClr val="accent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VALOR PARA A GESTÃO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2029968"/>
            <a:ext cx="5790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O que muda na prática</a:t>
            </a:r>
            <a:endParaRPr lang="en-US" sz="1900" dirty="0"/>
          </a:p>
        </p:txBody>
      </p:sp>
      <p:sp>
        <p:nvSpPr>
          <p:cNvPr id="13" name="Linha"/>
          <p:cNvSpPr/>
          <p:nvPr/>
        </p:nvSpPr>
        <p:spPr>
          <a:xfrm>
            <a:off x="4846320" y="2514600"/>
            <a:ext cx="6659575" cy="0"/>
          </a:xfrm>
          <a:prstGeom prst="line">
            <a:avLst/>
          </a:prstGeom>
          <a:noFill/>
          <a:ln w="9525">
            <a:solidFill>
              <a:srgbClr val="D9E2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46320" y="26974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03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5715000" y="2670048"/>
            <a:ext cx="5790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50" kern="0" dirty="0">
                <a:solidFill>
                  <a:schemeClr val="accent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INTEGRAÇÕES E CONTROLE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715000" y="2898648"/>
            <a:ext cx="5790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Sistemas conectados, acessos controlados</a:t>
            </a:r>
            <a:endParaRPr lang="en-US" sz="1900" dirty="0"/>
          </a:p>
        </p:txBody>
      </p:sp>
      <p:sp>
        <p:nvSpPr>
          <p:cNvPr id="17" name="Linha"/>
          <p:cNvSpPr/>
          <p:nvPr/>
        </p:nvSpPr>
        <p:spPr>
          <a:xfrm>
            <a:off x="4846320" y="3383280"/>
            <a:ext cx="6659575" cy="0"/>
          </a:xfrm>
          <a:prstGeom prst="line">
            <a:avLst/>
          </a:prstGeom>
          <a:noFill/>
          <a:ln w="9525">
            <a:solidFill>
              <a:srgbClr val="D9E2E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846320" y="35661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04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5715000" y="3538728"/>
            <a:ext cx="5790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50" kern="0" dirty="0">
                <a:solidFill>
                  <a:schemeClr val="accent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ENTREGAS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5715000" y="3767328"/>
            <a:ext cx="5790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Etapas do projeto de reimplantação</a:t>
            </a:r>
            <a:endParaRPr lang="en-US" sz="1900" dirty="0"/>
          </a:p>
        </p:txBody>
      </p:sp>
      <p:sp>
        <p:nvSpPr>
          <p:cNvPr id="21" name="Linha"/>
          <p:cNvSpPr/>
          <p:nvPr/>
        </p:nvSpPr>
        <p:spPr>
          <a:xfrm>
            <a:off x="4846320" y="4251960"/>
            <a:ext cx="6659575" cy="0"/>
          </a:xfrm>
          <a:prstGeom prst="line">
            <a:avLst/>
          </a:prstGeom>
          <a:noFill/>
          <a:ln w="9525">
            <a:solidFill>
              <a:srgbClr val="D9E2E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846320" y="4434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05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5715000" y="4407408"/>
            <a:ext cx="5790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50" kern="0" dirty="0">
                <a:solidFill>
                  <a:schemeClr val="accent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INVESTIMENTO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5715000" y="4636008"/>
            <a:ext cx="5790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Duas alternativas de contratação</a:t>
            </a:r>
            <a:endParaRPr lang="en-US" sz="1900" dirty="0"/>
          </a:p>
        </p:txBody>
      </p:sp>
      <p:sp>
        <p:nvSpPr>
          <p:cNvPr id="25" name="Linha"/>
          <p:cNvSpPr/>
          <p:nvPr/>
        </p:nvSpPr>
        <p:spPr>
          <a:xfrm>
            <a:off x="4846320" y="5120640"/>
            <a:ext cx="6659575" cy="0"/>
          </a:xfrm>
          <a:prstGeom prst="line">
            <a:avLst/>
          </a:prstGeom>
          <a:noFill/>
          <a:ln w="9525">
            <a:solidFill>
              <a:srgbClr val="D9E2E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846320" y="53035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06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5715000" y="5276088"/>
            <a:ext cx="5790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50" kern="0" dirty="0">
                <a:solidFill>
                  <a:schemeClr val="accent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ESCOPO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5715000" y="5504688"/>
            <a:ext cx="5790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O que não está incluído</a:t>
            </a:r>
            <a:endParaRPr lang="en-US" sz="1900" dirty="0"/>
          </a:p>
        </p:txBody>
      </p:sp>
      <p:sp>
        <p:nvSpPr>
          <p:cNvPr id="29" name="Linha"/>
          <p:cNvSpPr/>
          <p:nvPr/>
        </p:nvSpPr>
        <p:spPr>
          <a:xfrm>
            <a:off x="4846320" y="5989320"/>
            <a:ext cx="6659575" cy="0"/>
          </a:xfrm>
          <a:prstGeom prst="line">
            <a:avLst/>
          </a:prstGeom>
          <a:noFill/>
          <a:ln w="9525">
            <a:solidFill>
              <a:srgbClr val="D9E2E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640080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9AD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56692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 – JUSTIFICATIVA</a:t>
            </a:r>
            <a:endParaRPr lang="en-US" sz="105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84124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O CRM atual limita a gestão comercial</a:t>
            </a:r>
            <a:endParaRPr lang="en-US" sz="3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685800" y="1517904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reimplantação busca alinhar o processo à estrutura atual e recuperar visibilidade, integração e capacidade de evolução.</a:t>
            </a:r>
            <a:endParaRPr lang="en-US" sz="1400" dirty="0"/>
          </a:p>
        </p:txBody>
      </p:sp>
      <p:pic>
        <p:nvPicPr>
          <p:cNvPr id="5" name="Ícone ArrowsSplit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5800" y="2377440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3035808"/>
            <a:ext cx="32409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PROCESSO DESALINHADO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355848"/>
            <a:ext cx="32409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fluxo atual não reflete plenamente a estrutura das entidades.</a:t>
            </a:r>
            <a:endParaRPr lang="en-US" sz="1400" dirty="0"/>
          </a:p>
        </p:txBody>
      </p:sp>
      <p:sp>
        <p:nvSpPr>
          <p:cNvPr id="8" name="Linha"/>
          <p:cNvSpPr/>
          <p:nvPr/>
        </p:nvSpPr>
        <p:spPr>
          <a:xfrm>
            <a:off x="4201058" y="2377440"/>
            <a:ext cx="0" cy="1691640"/>
          </a:xfrm>
          <a:prstGeom prst="line">
            <a:avLst/>
          </a:prstGeom>
          <a:noFill/>
          <a:ln w="9525">
            <a:solidFill>
              <a:srgbClr val="D9E2EE"/>
            </a:solidFill>
            <a:prstDash val="solid"/>
          </a:ln>
        </p:spPr>
      </p:sp>
      <p:pic>
        <p:nvPicPr>
          <p:cNvPr id="9" name="Ícone EyeSlash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75378" y="2377440"/>
            <a:ext cx="420624" cy="4206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475378" y="3035808"/>
            <a:ext cx="32409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BAIXA VISÃO GERENCIAL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4475378" y="3355848"/>
            <a:ext cx="32409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Faltam relatórios consistentes para acompanhar funil, conversão e previsão.</a:t>
            </a:r>
            <a:endParaRPr lang="en-US" sz="1400" dirty="0"/>
          </a:p>
        </p:txBody>
      </p:sp>
      <p:sp>
        <p:nvSpPr>
          <p:cNvPr id="12" name="Linha"/>
          <p:cNvSpPr/>
          <p:nvPr/>
        </p:nvSpPr>
        <p:spPr>
          <a:xfrm>
            <a:off x="7990637" y="2377440"/>
            <a:ext cx="0" cy="1691640"/>
          </a:xfrm>
          <a:prstGeom prst="line">
            <a:avLst/>
          </a:prstGeom>
          <a:noFill/>
          <a:ln w="9525">
            <a:solidFill>
              <a:srgbClr val="D9E2EE"/>
            </a:solidFill>
            <a:prstDash val="solid"/>
          </a:ln>
        </p:spPr>
      </p:sp>
      <p:pic>
        <p:nvPicPr>
          <p:cNvPr id="13" name="Ícone ArrowsClockwise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64957" y="2377440"/>
            <a:ext cx="420624" cy="42062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264957" y="3035808"/>
            <a:ext cx="32409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RETRABALHO E LEGADO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8264957" y="3355848"/>
            <a:ext cx="32409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Controles paralelos, customizações acumuladas e integrações descontinuadas dificultam a evolução.</a:t>
            </a:r>
            <a:endParaRPr lang="en-US" sz="1400" dirty="0"/>
          </a:p>
        </p:txBody>
      </p:sp>
      <p:sp>
        <p:nvSpPr>
          <p:cNvPr id="16" name="Faixa consequências"/>
          <p:cNvSpPr/>
          <p:nvPr/>
        </p:nvSpPr>
        <p:spPr>
          <a:xfrm>
            <a:off x="0" y="4526280"/>
            <a:ext cx="12191695" cy="169164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685800" y="49103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chemeClr val="accent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CONSEQUÊNCIAS PARA A GESTÃO</a:t>
            </a:r>
            <a:endParaRPr lang="en-US" sz="1050" dirty="0"/>
          </a:p>
        </p:txBody>
      </p:sp>
      <p:sp>
        <p:nvSpPr>
          <p:cNvPr id="18" name="Text 13"/>
          <p:cNvSpPr txBox="1"/>
          <p:nvPr/>
        </p:nvSpPr>
        <p:spPr>
          <a:xfrm>
            <a:off x="685800" y="5239512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100" dirty="0">
                <a:solidFill>
                  <a:schemeClr val="bg1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Menor capacidade de acompanhar oportunidades, padronizar decisões e planejar resultados com base em informações confiáveis.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640080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9AD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56692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– VALOR PARA A GESTÃO</a:t>
            </a:r>
            <a:endParaRPr lang="en-US" sz="105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84124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O que muda na prática</a:t>
            </a:r>
            <a:endParaRPr lang="en-US" sz="3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685800" y="1517904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objetivo não é apenas atualizar o sistema: é melhorar a forma de gerir o relacionamento e as oportunidades.</a:t>
            </a:r>
            <a:endParaRPr lang="en-US" sz="1400" dirty="0"/>
          </a:p>
        </p:txBody>
      </p:sp>
      <p:sp>
        <p:nvSpPr>
          <p:cNvPr id="5" name="Linha"/>
          <p:cNvSpPr/>
          <p:nvPr/>
        </p:nvSpPr>
        <p:spPr>
          <a:xfrm>
            <a:off x="4297680" y="2331720"/>
            <a:ext cx="0" cy="3566160"/>
          </a:xfrm>
          <a:prstGeom prst="line">
            <a:avLst/>
          </a:prstGeom>
          <a:noFill/>
          <a:ln w="9525">
            <a:solidFill>
              <a:srgbClr val="D9E2EE"/>
            </a:solidFill>
            <a:prstDash val="solid"/>
          </a:ln>
        </p:spPr>
      </p:sp>
      <p:sp>
        <p:nvSpPr>
          <p:cNvPr id="6" name="Linha"/>
          <p:cNvSpPr/>
          <p:nvPr/>
        </p:nvSpPr>
        <p:spPr>
          <a:xfrm>
            <a:off x="685800" y="4114800"/>
            <a:ext cx="7223760" cy="0"/>
          </a:xfrm>
          <a:prstGeom prst="line">
            <a:avLst/>
          </a:prstGeom>
          <a:noFill/>
          <a:ln w="9525">
            <a:solidFill>
              <a:srgbClr val="D9E2EE"/>
            </a:solidFill>
            <a:prstDash val="solid"/>
          </a:ln>
        </p:spPr>
      </p:sp>
      <p:pic>
        <p:nvPicPr>
          <p:cNvPr id="7" name="Ícone UserFocus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5800" y="2331720"/>
            <a:ext cx="384048" cy="384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52728" y="2414016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CLIENTE 360º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252728" y="2743200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Contas, contratos, oportunidades e proposta em um só lugar.</a:t>
            </a:r>
            <a:endParaRPr lang="en-US" sz="1400" dirty="0"/>
          </a:p>
        </p:txBody>
      </p:sp>
      <p:pic>
        <p:nvPicPr>
          <p:cNvPr id="10" name="Ícone ShieldCheck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09160" y="2331720"/>
            <a:ext cx="384048" cy="3840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76088" y="2414016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GOVERNANÇA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5276088" y="2743200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Etapas, responsabilidades e alçadas claras.</a:t>
            </a:r>
            <a:endParaRPr lang="en-US" sz="1400" dirty="0"/>
          </a:p>
        </p:txBody>
      </p:sp>
      <p:pic>
        <p:nvPicPr>
          <p:cNvPr id="13" name="Ícone Target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5800" y="4434840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52728" y="4517136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DECISÃO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1252728" y="4846320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Metas e previsão de vendas</a:t>
            </a:r>
            <a:endParaRPr lang="en-US" sz="1400" dirty="0"/>
          </a:p>
        </p:txBody>
      </p:sp>
      <p:pic>
        <p:nvPicPr>
          <p:cNvPr id="16" name="Ícone Lightning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709160" y="4434840"/>
            <a:ext cx="384048" cy="38404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276088" y="4517136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EFICIÊNCIA</a:t>
            </a:r>
            <a:endParaRPr lang="en-US" sz="1100" dirty="0"/>
          </a:p>
        </p:txBody>
      </p:sp>
      <p:sp>
        <p:nvSpPr>
          <p:cNvPr id="18" name="Text 12"/>
          <p:cNvSpPr txBox="1"/>
          <p:nvPr/>
        </p:nvSpPr>
        <p:spPr>
          <a:xfrm>
            <a:off x="5276088" y="4846320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Menos controles paralelos e tarefas manuais.</a:t>
            </a:r>
            <a:endParaRPr lang="en-US" sz="1400" dirty="0"/>
          </a:p>
        </p:txBody>
      </p:sp>
      <p:sp>
        <p:nvSpPr>
          <p:cNvPr id="19" name="Resultado esperado"/>
          <p:cNvSpPr/>
          <p:nvPr/>
        </p:nvSpPr>
        <p:spPr>
          <a:xfrm>
            <a:off x="8366760" y="2331720"/>
            <a:ext cx="3139135" cy="356616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8732520" y="2743200"/>
            <a:ext cx="2407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chemeClr val="accent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RESULTADO ESPERADO</a:t>
            </a:r>
            <a:endParaRPr lang="en-US" sz="1050" dirty="0"/>
          </a:p>
        </p:txBody>
      </p:sp>
      <p:sp>
        <p:nvSpPr>
          <p:cNvPr id="21" name="Text 15"/>
          <p:cNvSpPr txBox="1"/>
          <p:nvPr/>
        </p:nvSpPr>
        <p:spPr>
          <a:xfrm>
            <a:off x="8732520" y="3108960"/>
            <a:ext cx="24076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dirty="0">
                <a:solidFill>
                  <a:schemeClr val="bg1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Um processo comercial comum, com dados rastreáveis e melhor suporte à decisão.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640080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9AD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56692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 – INTEGRAÇÕES E CONTROLE</a:t>
            </a:r>
            <a:endParaRPr lang="en-US" sz="105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84124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Sistemas conectados, acessos controlados</a:t>
            </a:r>
            <a:endParaRPr lang="en-US" sz="3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685800" y="1517904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proposta prevê rotas nativas Microsoft e camada Azure para integrações específicas.</a:t>
            </a:r>
            <a:endParaRPr lang="en-US" sz="1400" dirty="0"/>
          </a:p>
        </p:txBody>
      </p:sp>
      <p:sp>
        <p:nvSpPr>
          <p:cNvPr id="5" name="Conexão Dynamics 365 F&amp;SCM"/>
          <p:cNvSpPr/>
          <p:nvPr/>
        </p:nvSpPr>
        <p:spPr>
          <a:xfrm>
            <a:off x="4526280" y="2414016"/>
            <a:ext cx="746602" cy="300120"/>
          </a:xfrm>
          <a:prstGeom prst="line">
            <a:avLst/>
          </a:prstGeom>
          <a:noFill/>
          <a:ln w="9525">
            <a:solidFill>
              <a:srgbClr val="9DB8DA"/>
            </a:solidFill>
            <a:prstDash val="solid"/>
          </a:ln>
        </p:spPr>
      </p:sp>
      <p:sp>
        <p:nvSpPr>
          <p:cNvPr id="6" name="Ponto"/>
          <p:cNvSpPr/>
          <p:nvPr/>
        </p:nvSpPr>
        <p:spPr>
          <a:xfrm>
            <a:off x="4485132" y="2372868"/>
            <a:ext cx="82296" cy="822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Dynamics 365 F&amp;SCM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61518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Contas nos dois sentidos; produtos e preços → CRM</a:t>
            </a:r>
            <a:endParaRPr lang="en-US" sz="1250" dirty="0"/>
          </a:p>
        </p:txBody>
      </p:sp>
      <p:sp>
        <p:nvSpPr>
          <p:cNvPr id="9" name="Conexão Outlook + Teams"/>
          <p:cNvSpPr/>
          <p:nvPr/>
        </p:nvSpPr>
        <p:spPr>
          <a:xfrm flipV="1">
            <a:off x="4526280" y="3297570"/>
            <a:ext cx="719334" cy="213726"/>
          </a:xfrm>
          <a:prstGeom prst="line">
            <a:avLst/>
          </a:prstGeom>
          <a:noFill/>
          <a:ln w="9525">
            <a:solidFill>
              <a:srgbClr val="9DB8DA"/>
            </a:solidFill>
            <a:prstDash val="solid"/>
          </a:ln>
        </p:spPr>
      </p:sp>
      <p:sp>
        <p:nvSpPr>
          <p:cNvPr id="10" name="Ponto"/>
          <p:cNvSpPr/>
          <p:nvPr/>
        </p:nvSpPr>
        <p:spPr>
          <a:xfrm>
            <a:off x="4485132" y="3470148"/>
            <a:ext cx="82296" cy="822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383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Outlook + Teams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71246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E-mails, reuniões, aprovações e avisos</a:t>
            </a:r>
            <a:endParaRPr lang="en-US" sz="1250" dirty="0"/>
          </a:p>
        </p:txBody>
      </p:sp>
      <p:sp>
        <p:nvSpPr>
          <p:cNvPr id="13" name="Conexão CRM Nacional (CNI)"/>
          <p:cNvSpPr/>
          <p:nvPr/>
        </p:nvSpPr>
        <p:spPr>
          <a:xfrm flipV="1">
            <a:off x="6918813" y="2414016"/>
            <a:ext cx="746602" cy="300120"/>
          </a:xfrm>
          <a:prstGeom prst="line">
            <a:avLst/>
          </a:prstGeom>
          <a:noFill/>
          <a:ln w="9525">
            <a:solidFill>
              <a:srgbClr val="9DB8DA"/>
            </a:solidFill>
            <a:prstDash val="solid"/>
          </a:ln>
        </p:spPr>
      </p:sp>
      <p:sp>
        <p:nvSpPr>
          <p:cNvPr id="14" name="Ponto"/>
          <p:cNvSpPr/>
          <p:nvPr/>
        </p:nvSpPr>
        <p:spPr>
          <a:xfrm>
            <a:off x="7624267" y="2372868"/>
            <a:ext cx="82296" cy="822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48295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CRM Nacional (CNI)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848295" y="261518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Envio a cada alteração, rastreio e reprocessamento</a:t>
            </a:r>
            <a:endParaRPr lang="en-US" sz="1250" dirty="0"/>
          </a:p>
        </p:txBody>
      </p:sp>
      <p:sp>
        <p:nvSpPr>
          <p:cNvPr id="17" name="Conexão SharePoint"/>
          <p:cNvSpPr/>
          <p:nvPr/>
        </p:nvSpPr>
        <p:spPr>
          <a:xfrm>
            <a:off x="6946081" y="3297570"/>
            <a:ext cx="719334" cy="213726"/>
          </a:xfrm>
          <a:prstGeom prst="line">
            <a:avLst/>
          </a:prstGeom>
          <a:noFill/>
          <a:ln w="9525">
            <a:solidFill>
              <a:srgbClr val="9DB8DA"/>
            </a:solidFill>
            <a:prstDash val="solid"/>
          </a:ln>
        </p:spPr>
      </p:sp>
      <p:sp>
        <p:nvSpPr>
          <p:cNvPr id="18" name="Ponto"/>
          <p:cNvSpPr/>
          <p:nvPr/>
        </p:nvSpPr>
        <p:spPr>
          <a:xfrm>
            <a:off x="7624267" y="3470148"/>
            <a:ext cx="82296" cy="822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848295" y="3383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SharePoint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848295" y="371246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Documentos por conta e oportunidade</a:t>
            </a:r>
            <a:endParaRPr lang="en-US" sz="1250" dirty="0"/>
          </a:p>
        </p:txBody>
      </p:sp>
      <p:sp>
        <p:nvSpPr>
          <p:cNvPr id="21" name="Anel"/>
          <p:cNvSpPr/>
          <p:nvPr/>
        </p:nvSpPr>
        <p:spPr>
          <a:xfrm>
            <a:off x="5208880" y="2157984"/>
            <a:ext cx="1773936" cy="1773936"/>
          </a:xfrm>
          <a:prstGeom prst="ellipse">
            <a:avLst/>
          </a:prstGeom>
          <a:ln w="9525">
            <a:solidFill>
              <a:srgbClr val="B9CFEA"/>
            </a:solidFill>
            <a:prstDash val="solid"/>
          </a:ln>
        </p:spPr>
      </p:sp>
      <p:sp>
        <p:nvSpPr>
          <p:cNvPr id="22" name="Dynamics 365 Sales"/>
          <p:cNvSpPr/>
          <p:nvPr/>
        </p:nvSpPr>
        <p:spPr>
          <a:xfrm>
            <a:off x="5318608" y="2267712"/>
            <a:ext cx="1554480" cy="15544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318608" y="2267712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chemeClr val="bg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DYNAMICS 365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spc="200" kern="0" dirty="0">
                <a:solidFill>
                  <a:schemeClr val="bg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SALES (CRM)</a:t>
            </a:r>
            <a:endParaRPr lang="en-US" sz="1100" dirty="0"/>
          </a:p>
        </p:txBody>
      </p:sp>
      <p:sp>
        <p:nvSpPr>
          <p:cNvPr id="24" name="Conexão Onda 2"/>
          <p:cNvSpPr/>
          <p:nvPr/>
        </p:nvSpPr>
        <p:spPr>
          <a:xfrm>
            <a:off x="6095848" y="3931920"/>
            <a:ext cx="0" cy="274320"/>
          </a:xfrm>
          <a:prstGeom prst="line">
            <a:avLst/>
          </a:prstGeom>
          <a:noFill/>
          <a:ln w="9525">
            <a:solidFill>
              <a:srgbClr val="1660C4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4267048" y="42793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150" kern="0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ONDA 2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4267048" y="44988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Consulta por CNPJ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267048" y="4791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Complemento de cadastro de empresas</a:t>
            </a:r>
            <a:endParaRPr lang="en-US" sz="1250" dirty="0"/>
          </a:p>
        </p:txBody>
      </p:sp>
      <p:sp>
        <p:nvSpPr>
          <p:cNvPr id="28" name="Linha"/>
          <p:cNvSpPr/>
          <p:nvPr/>
        </p:nvSpPr>
        <p:spPr>
          <a:xfrm>
            <a:off x="685800" y="5193792"/>
            <a:ext cx="10820095" cy="0"/>
          </a:xfrm>
          <a:prstGeom prst="line">
            <a:avLst/>
          </a:prstGeom>
          <a:noFill/>
          <a:ln w="9525">
            <a:solidFill>
              <a:srgbClr val="D9E2E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537667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SEGURANÇA E PRIVACIDADE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3429000" y="5349240"/>
            <a:ext cx="1744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Segregação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3429000" y="5632704"/>
            <a:ext cx="1744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Cada entidade vê e altera seus registros conforme o perfil.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448224" y="5349240"/>
            <a:ext cx="1744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Perfis e hierarquia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48224" y="5632704"/>
            <a:ext cx="1744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Acesso por função; gestores acompanham suas equipes.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7467448" y="5349240"/>
            <a:ext cx="1744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Campos sensíveis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7467448" y="5632704"/>
            <a:ext cx="1744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Valores e descontos protegidos por perfil.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9486671" y="5349240"/>
            <a:ext cx="1744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Auditoria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486671" y="5632704"/>
            <a:ext cx="1744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Registro de alterações nas tabelas principais.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640080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9AD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56692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– ENTREGAS</a:t>
            </a:r>
            <a:endParaRPr lang="en-US" sz="105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84124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Etapas do projeto de reimplantação</a:t>
            </a:r>
            <a:endParaRPr lang="en-US" sz="3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685800" y="1517904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Cada etapa tem um propósito, de forma macro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933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50" kern="0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ONDA 1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9648333" y="19933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50" kern="0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ONDA 2</a:t>
            </a:r>
            <a:endParaRPr lang="en-US" sz="950" dirty="0"/>
          </a:p>
        </p:txBody>
      </p:sp>
      <p:sp>
        <p:nvSpPr>
          <p:cNvPr id="7" name="Linha do tempo Onda 1"/>
          <p:cNvSpPr/>
          <p:nvPr/>
        </p:nvSpPr>
        <p:spPr>
          <a:xfrm>
            <a:off x="685800" y="2286000"/>
            <a:ext cx="8816229" cy="54864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8" name="Linha do tempo Onda 2"/>
          <p:cNvSpPr/>
          <p:nvPr/>
        </p:nvSpPr>
        <p:spPr>
          <a:xfrm>
            <a:off x="9575181" y="2286000"/>
            <a:ext cx="1930714" cy="54864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" name="Marco Início"/>
          <p:cNvSpPr/>
          <p:nvPr/>
        </p:nvSpPr>
        <p:spPr>
          <a:xfrm>
            <a:off x="621792" y="2249424"/>
            <a:ext cx="128016" cy="128016"/>
          </a:xfrm>
          <a:prstGeom prst="ellipse">
            <a:avLst/>
          </a:prstGeom>
          <a:solidFill>
            <a:schemeClr val="bg1"/>
          </a:solidFill>
          <a:ln w="12700">
            <a:solidFill>
              <a:srgbClr val="0A2A5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4505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Início</a:t>
            </a:r>
            <a:endParaRPr lang="en-US" sz="950" dirty="0"/>
          </a:p>
        </p:txBody>
      </p:sp>
      <p:sp>
        <p:nvSpPr>
          <p:cNvPr id="11" name="Marco Semana 18"/>
          <p:cNvSpPr/>
          <p:nvPr/>
        </p:nvSpPr>
        <p:spPr>
          <a:xfrm>
            <a:off x="9474597" y="2249424"/>
            <a:ext cx="128016" cy="128016"/>
          </a:xfrm>
          <a:prstGeom prst="ellipse">
            <a:avLst/>
          </a:prstGeom>
          <a:solidFill>
            <a:schemeClr val="bg1"/>
          </a:solidFill>
          <a:ln w="12700">
            <a:solidFill>
              <a:srgbClr val="0A2A5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852805" y="24505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Semana 18</a:t>
            </a:r>
            <a:endParaRPr lang="en-US" sz="950" dirty="0"/>
          </a:p>
        </p:txBody>
      </p:sp>
      <p:sp>
        <p:nvSpPr>
          <p:cNvPr id="13" name="Marco Semana 22"/>
          <p:cNvSpPr/>
          <p:nvPr/>
        </p:nvSpPr>
        <p:spPr>
          <a:xfrm>
            <a:off x="11441887" y="2249424"/>
            <a:ext cx="128016" cy="128016"/>
          </a:xfrm>
          <a:prstGeom prst="ellipse">
            <a:avLst/>
          </a:prstGeom>
          <a:solidFill>
            <a:schemeClr val="bg1"/>
          </a:solidFill>
          <a:ln w="12700">
            <a:solidFill>
              <a:srgbClr val="0A2A5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134295" y="24505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Semana 22</a:t>
            </a:r>
            <a:endParaRPr lang="en-US" sz="950" dirty="0"/>
          </a:p>
        </p:txBody>
      </p:sp>
      <p:sp>
        <p:nvSpPr>
          <p:cNvPr id="15" name="Linha"/>
          <p:cNvSpPr/>
          <p:nvPr/>
        </p:nvSpPr>
        <p:spPr>
          <a:xfrm>
            <a:off x="7754112" y="2816352"/>
            <a:ext cx="0" cy="3401568"/>
          </a:xfrm>
          <a:prstGeom prst="line">
            <a:avLst/>
          </a:prstGeom>
          <a:noFill/>
          <a:ln w="9525">
            <a:solidFill>
              <a:srgbClr val="D9E2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2816352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Núcleo Comercial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236976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Previsão de execução: </a:t>
            </a:r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18 semanas ~ 4 meses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138160" y="2816352"/>
            <a:ext cx="3367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Painéis Avançados e CNPJ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8138160" y="3236976"/>
            <a:ext cx="33677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Previsão de execução: </a:t>
            </a:r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semanas ~ 1 mês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373989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3712464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Definição de regras de solução, dados e integrações.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439826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4370832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Ambientes, segurança e estrutura das 4 entidades, com linhas de solução, casas e centros de custo.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0566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" y="5029200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Fluxo guiado de vendas, oportunidade com vários produtos e proposta com modelo.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57150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1051560" y="5687568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Alçadas de aprovação no Teams e Outlook.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251960" y="373989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617720" y="3712464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Alçada de desconto.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251960" y="439826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617720" y="4370832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Visão 360º, metas, previsão e painel de funil no Power BI.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4251960" y="50566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617720" y="5029200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Integração com ERP Dynamics e CRM Nacional.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251960" y="57150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08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4617720" y="5687568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Migração de dados em aberto, testes, treinamento e operação assistida.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138160" y="373989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8503920" y="3712464"/>
            <a:ext cx="300197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Painéis Avançados de Produtos e Similaridade no Power BI.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8138160" y="439826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503920" y="4370832"/>
            <a:ext cx="300197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Integração para cadastro de Empresas por CNPJ.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640080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9AD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56692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 – INVESTIMENTO</a:t>
            </a:r>
            <a:endParaRPr lang="en-US" sz="105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84124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Duas alternativas de contratação</a:t>
            </a:r>
            <a:endParaRPr lang="en-US" sz="3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685800" y="1517904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Modelo Time &amp; Materials: faturamento conforme horas medidas e aprovadas.</a:t>
            </a:r>
            <a:endParaRPr lang="en-US" sz="1400" dirty="0"/>
          </a:p>
        </p:txBody>
      </p:sp>
      <p:sp>
        <p:nvSpPr>
          <p:cNvPr id="5" name="OPÇÃO A"/>
          <p:cNvSpPr/>
          <p:nvPr/>
        </p:nvSpPr>
        <p:spPr>
          <a:xfrm>
            <a:off x="685800" y="2286000"/>
            <a:ext cx="5227168" cy="3794760"/>
          </a:xfrm>
          <a:prstGeom prst="rect">
            <a:avLst/>
          </a:prstGeom>
          <a:solidFill>
            <a:schemeClr val="bg1"/>
          </a:solidFill>
          <a:ln w="9525">
            <a:solidFill>
              <a:srgbClr val="D9E2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27432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OPÇÃO 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3017520"/>
            <a:ext cx="431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Núcleo Comercial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3474720"/>
            <a:ext cx="431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Onda 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402336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R$ 378.770,00</a:t>
            </a:r>
            <a:endParaRPr lang="en-US" sz="4400" dirty="0"/>
          </a:p>
        </p:txBody>
      </p:sp>
      <p:sp>
        <p:nvSpPr>
          <p:cNvPr id="10" name="Linha"/>
          <p:cNvSpPr/>
          <p:nvPr/>
        </p:nvSpPr>
        <p:spPr>
          <a:xfrm>
            <a:off x="1143000" y="5193792"/>
            <a:ext cx="4312768" cy="0"/>
          </a:xfrm>
          <a:prstGeom prst="line">
            <a:avLst/>
          </a:prstGeom>
          <a:noFill/>
          <a:ln w="9525">
            <a:solidFill>
              <a:srgbClr val="D9E2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5321808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dirty="0">
                <a:solidFill>
                  <a:schemeClr val="tx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2.450</a:t>
            </a:r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horas</a:t>
            </a:r>
            <a:endParaRPr lang="en-US" sz="1400" dirty="0"/>
          </a:p>
        </p:txBody>
      </p:sp>
      <p:sp>
        <p:nvSpPr>
          <p:cNvPr id="12" name="OPÇÃO B"/>
          <p:cNvSpPr/>
          <p:nvPr/>
        </p:nvSpPr>
        <p:spPr>
          <a:xfrm>
            <a:off x="6278728" y="2286000"/>
            <a:ext cx="5227168" cy="379476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35928" y="27432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chemeClr val="accent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OPÇÃO B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735928" y="3017520"/>
            <a:ext cx="431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Projeto Completo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735928" y="3474720"/>
            <a:ext cx="431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7C9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Ondas 1 e 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735928" y="402336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R$ 415.564,80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6735928" y="4773168"/>
            <a:ext cx="431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7C9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(R$ 378.770,00 + R$ 36.795,00)</a:t>
            </a:r>
            <a:endParaRPr lang="en-US" sz="1200" dirty="0"/>
          </a:p>
        </p:txBody>
      </p:sp>
      <p:sp>
        <p:nvSpPr>
          <p:cNvPr id="18" name="Linha"/>
          <p:cNvSpPr/>
          <p:nvPr/>
        </p:nvSpPr>
        <p:spPr>
          <a:xfrm>
            <a:off x="6735928" y="5193792"/>
            <a:ext cx="4312768" cy="0"/>
          </a:xfrm>
          <a:prstGeom prst="line">
            <a:avLst/>
          </a:prstGeom>
          <a:noFill/>
          <a:ln w="9525">
            <a:solidFill>
              <a:srgbClr val="2C4D8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35928" y="5321808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2.688</a:t>
            </a:r>
            <a:pPr indent="0" marL="0">
              <a:buNone/>
            </a:pPr>
            <a:r>
              <a:rPr lang="en-US" sz="1300" dirty="0">
                <a:solidFill>
                  <a:srgbClr val="B7C9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horas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640080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9AD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56692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 – INVESTIMENTO</a:t>
            </a:r>
            <a:endParaRPr lang="en-US" sz="105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84124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Rateio por casa</a:t>
            </a:r>
            <a:endParaRPr lang="en-US" sz="3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685800" y="1517904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Visão geral para apoiar a decisão.</a:t>
            </a:r>
            <a:endParaRPr lang="en-US" sz="1400" dirty="0"/>
          </a:p>
        </p:txBody>
      </p:sp>
      <p:graphicFrame>
        <p:nvGraphicFramePr>
          <p:cNvPr id="5" name="Gráfico rateio" descr=""/>
          <p:cNvGraphicFramePr/>
          <p:nvPr/>
        </p:nvGraphicFramePr>
        <p:xfrm>
          <a:off x="685800" y="2331720"/>
          <a:ext cx="338328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85800" y="36576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33,33%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13308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 casa</a:t>
            </a:r>
            <a:endParaRPr lang="en-US" sz="1100" dirty="0"/>
          </a:p>
        </p:txBody>
      </p:sp>
      <p:graphicFrame>
        <p:nvGraphicFramePr>
          <p:cNvPr id="9" name="Tabela ratei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2647188"/>
          <a:ext cx="6613855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325880"/>
                <a:gridCol w="1407262"/>
                <a:gridCol w="140726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spc="100" kern="0" dirty="0">
                          <a:solidFill>
                            <a:srgbClr val="6B7A90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CASA</a:t>
                      </a:r>
                      <a:endParaRPr lang="en-US" sz="9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384048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A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spc="100" kern="0" dirty="0">
                          <a:solidFill>
                            <a:srgbClr val="6B7A90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PORCENTAGEM</a:t>
                      </a:r>
                      <a:endParaRPr lang="en-US" sz="9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9144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A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spc="100" kern="0" dirty="0">
                          <a:solidFill>
                            <a:srgbClr val="6B7A90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OPÇÃO A</a:t>
                      </a:r>
                      <a:endParaRPr lang="en-US" sz="9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9144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A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spc="100" kern="0" dirty="0">
                          <a:solidFill>
                            <a:srgbClr val="6B7A90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OPÇÃO B</a:t>
                      </a:r>
                      <a:endParaRPr lang="en-US" sz="9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9144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A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FIEPA (IEL, Observatório, REDES e CIN)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4048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33,33%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R$ 126.256,67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R$ 138.521,60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SESI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4048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33,33%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R$ 126.256,67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R$ 138.521,60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SENAI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4048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33,33%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R$ 126.256,67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R$ 138.521,60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0A2A5E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TOTAL</a:t>
                      </a:r>
                      <a:endParaRPr lang="en-US" sz="13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384048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A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dirty="0">
                          <a:solidFill>
                            <a:srgbClr val="0A2A5E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100%</a:t>
                      </a:r>
                      <a:endParaRPr lang="en-US" sz="13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9144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A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dirty="0">
                          <a:solidFill>
                            <a:srgbClr val="0A2A5E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R$ 378.770,00</a:t>
                      </a:r>
                      <a:endParaRPr lang="en-US" sz="13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9144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A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dirty="0">
                          <a:solidFill>
                            <a:srgbClr val="0A2A5E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R$ 415.564,80</a:t>
                      </a:r>
                      <a:endParaRPr lang="en-US" sz="13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9144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A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9" name="Legenda FIEPA"/>
          <p:cNvSpPr/>
          <p:nvPr/>
        </p:nvSpPr>
        <p:spPr>
          <a:xfrm>
            <a:off x="5020056" y="3351276"/>
            <a:ext cx="128016" cy="128016"/>
          </a:xfrm>
          <a:prstGeom prst="ellipse">
            <a:avLst/>
          </a:prstGeom>
          <a:solidFill>
            <a:srgbClr val="0A2A5E"/>
          </a:solidFill>
          <a:ln/>
        </p:spPr>
      </p:sp>
      <p:sp>
        <p:nvSpPr>
          <p:cNvPr id="10" name="Legenda SESI"/>
          <p:cNvSpPr/>
          <p:nvPr/>
        </p:nvSpPr>
        <p:spPr>
          <a:xfrm>
            <a:off x="5020056" y="3973068"/>
            <a:ext cx="128016" cy="128016"/>
          </a:xfrm>
          <a:prstGeom prst="ellipse">
            <a:avLst/>
          </a:prstGeom>
          <a:solidFill>
            <a:srgbClr val="1660C4"/>
          </a:solidFill>
          <a:ln/>
        </p:spPr>
      </p:sp>
      <p:sp>
        <p:nvSpPr>
          <p:cNvPr id="11" name="Legenda SENAI"/>
          <p:cNvSpPr/>
          <p:nvPr/>
        </p:nvSpPr>
        <p:spPr>
          <a:xfrm>
            <a:off x="5020056" y="4503420"/>
            <a:ext cx="128016" cy="128016"/>
          </a:xfrm>
          <a:prstGeom prst="ellipse">
            <a:avLst/>
          </a:prstGeom>
          <a:solidFill>
            <a:srgbClr val="8EC5F2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640080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9AD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56692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 – ESCOPO</a:t>
            </a:r>
            <a:endParaRPr lang="en-US" sz="105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84124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O que não está incluído</a:t>
            </a:r>
            <a:endParaRPr lang="en-US" sz="3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685800" y="1517904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Limites da proposta.</a:t>
            </a:r>
            <a:endParaRPr lang="en-US" sz="1400" dirty="0"/>
          </a:p>
        </p:txBody>
      </p:sp>
      <p:sp>
        <p:nvSpPr>
          <p:cNvPr id="5" name="Linha"/>
          <p:cNvSpPr/>
          <p:nvPr/>
        </p:nvSpPr>
        <p:spPr>
          <a:xfrm>
            <a:off x="6095848" y="2331720"/>
            <a:ext cx="0" cy="3749040"/>
          </a:xfrm>
          <a:prstGeom prst="line">
            <a:avLst/>
          </a:prstGeom>
          <a:noFill/>
          <a:ln w="9525">
            <a:solidFill>
              <a:srgbClr val="D9E2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31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NÃO INCLUÍDO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507328" y="2331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CONDIÇÕES</a:t>
            </a:r>
            <a:endParaRPr lang="en-US" sz="1050" dirty="0"/>
          </a:p>
        </p:txBody>
      </p:sp>
      <p:sp>
        <p:nvSpPr>
          <p:cNvPr id="8" name="Marcador"/>
          <p:cNvSpPr/>
          <p:nvPr/>
        </p:nvSpPr>
        <p:spPr>
          <a:xfrm>
            <a:off x="685800" y="2880360"/>
            <a:ext cx="457200" cy="457200"/>
          </a:xfrm>
          <a:prstGeom prst="ellipse">
            <a:avLst/>
          </a:prstGeom>
          <a:ln w="9525">
            <a:solidFill>
              <a:srgbClr val="6B7A90"/>
            </a:solidFill>
            <a:prstDash val="solid"/>
          </a:ln>
        </p:spPr>
      </p:sp>
      <p:pic>
        <p:nvPicPr>
          <p:cNvPr id="9" name="Ícone X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4672" y="2999232"/>
            <a:ext cx="219456" cy="21945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417320" y="2852928"/>
            <a:ext cx="4267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dirty="0">
                <a:solidFill>
                  <a:schemeClr val="tx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Licenças Dynamics 365 e consumo Azure não estão incluídos.</a:t>
            </a:r>
            <a:endParaRPr lang="en-US" sz="1900" dirty="0"/>
          </a:p>
        </p:txBody>
      </p:sp>
      <p:sp>
        <p:nvSpPr>
          <p:cNvPr id="11" name="Linha"/>
          <p:cNvSpPr/>
          <p:nvPr/>
        </p:nvSpPr>
        <p:spPr>
          <a:xfrm>
            <a:off x="685800" y="4160520"/>
            <a:ext cx="4998568" cy="0"/>
          </a:xfrm>
          <a:prstGeom prst="line">
            <a:avLst/>
          </a:prstGeom>
          <a:noFill/>
          <a:ln w="9525">
            <a:solidFill>
              <a:srgbClr val="D9E2EE"/>
            </a:solidFill>
            <a:prstDash val="solid"/>
          </a:ln>
        </p:spPr>
      </p:sp>
      <p:sp>
        <p:nvSpPr>
          <p:cNvPr id="12" name="Marcador"/>
          <p:cNvSpPr/>
          <p:nvPr/>
        </p:nvSpPr>
        <p:spPr>
          <a:xfrm>
            <a:off x="685800" y="4572000"/>
            <a:ext cx="457200" cy="457200"/>
          </a:xfrm>
          <a:prstGeom prst="ellipse">
            <a:avLst/>
          </a:prstGeom>
          <a:ln w="9525">
            <a:solidFill>
              <a:srgbClr val="6B7A90"/>
            </a:solidFill>
            <a:prstDash val="solid"/>
          </a:ln>
        </p:spPr>
      </p:sp>
      <p:pic>
        <p:nvPicPr>
          <p:cNvPr id="13" name="Ícone X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4672" y="4690872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417320" y="4544568"/>
            <a:ext cx="4267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dirty="0">
                <a:solidFill>
                  <a:schemeClr val="tx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Sustentação após a Onda 2 e integração com WhatsApp não estão incluídas.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6507328" y="2724912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accent1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40</a:t>
            </a:r>
            <a:endParaRPr lang="en-US" sz="4800" dirty="0"/>
          </a:p>
        </p:txBody>
      </p:sp>
      <p:sp>
        <p:nvSpPr>
          <p:cNvPr id="16" name="Text 12"/>
          <p:cNvSpPr txBox="1"/>
          <p:nvPr/>
        </p:nvSpPr>
        <p:spPr>
          <a:xfrm>
            <a:off x="6507328" y="347472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dias úteis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7741768" y="2852928"/>
            <a:ext cx="37641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chemeClr val="tx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equipe pode ser mobilizada em até 40 dias úteis após aceite e assinatura.</a:t>
            </a:r>
            <a:endParaRPr lang="en-US" sz="1700" dirty="0"/>
          </a:p>
        </p:txBody>
      </p:sp>
      <p:sp>
        <p:nvSpPr>
          <p:cNvPr id="18" name="Linha"/>
          <p:cNvSpPr/>
          <p:nvPr/>
        </p:nvSpPr>
        <p:spPr>
          <a:xfrm>
            <a:off x="6507328" y="4160520"/>
            <a:ext cx="4998568" cy="0"/>
          </a:xfrm>
          <a:prstGeom prst="line">
            <a:avLst/>
          </a:prstGeom>
          <a:noFill/>
          <a:ln w="9525">
            <a:solidFill>
              <a:srgbClr val="D9E2E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507328" y="4416552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accent1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5</a:t>
            </a:r>
            <a:endParaRPr lang="en-US" sz="4800" dirty="0"/>
          </a:p>
        </p:txBody>
      </p:sp>
      <p:sp>
        <p:nvSpPr>
          <p:cNvPr id="20" name="Text 16"/>
          <p:cNvSpPr txBox="1"/>
          <p:nvPr/>
        </p:nvSpPr>
        <p:spPr>
          <a:xfrm>
            <a:off x="6507328" y="51663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dias úteis</a:t>
            </a:r>
            <a:endParaRPr lang="en-US" sz="1050" dirty="0"/>
          </a:p>
        </p:txBody>
      </p:sp>
      <p:sp>
        <p:nvSpPr>
          <p:cNvPr id="21" name="Text 17"/>
          <p:cNvSpPr txBox="1"/>
          <p:nvPr/>
        </p:nvSpPr>
        <p:spPr>
          <a:xfrm>
            <a:off x="7741768" y="4544568"/>
            <a:ext cx="37641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chemeClr val="tx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Horas medidas mensalmente; a FIEPA tem até 5 dias úteis para aprovar o relatório.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640080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9AD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33172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dirty="0">
                <a:solidFill>
                  <a:schemeClr val="bg1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Obrigado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361188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bg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Reimplantação CRM Dynamics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9D8EE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Gestão comercial integrada para o Sistema FIEPA</a:t>
            </a:r>
            <a:endParaRPr lang="en-US" sz="1800" dirty="0"/>
          </a:p>
        </p:txBody>
      </p:sp>
      <p:pic>
        <p:nvPicPr>
          <p:cNvPr id="4" name="Logo FIEPA" descr="assets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760720"/>
            <a:ext cx="1828800" cy="3163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IEPA CRM">
  <a:themeElements>
    <a:clrScheme name="FIEPA CRM">
      <a:dk1>
        <a:srgbClr val="1B2A41"/>
      </a:dk1>
      <a:lt1>
        <a:srgbClr val="FFFFFF"/>
      </a:lt1>
      <a:dk2>
        <a:srgbClr val="0A2A5E"/>
      </a:dk2>
      <a:lt2>
        <a:srgbClr val="F1F6FC"/>
      </a:lt2>
      <a:accent1>
        <a:srgbClr val="1660C4"/>
      </a:accent1>
      <a:accent2>
        <a:srgbClr val="6B7A90"/>
      </a:accent2>
      <a:accent3>
        <a:srgbClr val="8EC5F2"/>
      </a:accent3>
      <a:accent4>
        <a:srgbClr val="D9E2EE"/>
      </a:accent4>
      <a:accent5>
        <a:srgbClr val="3FC1E8"/>
      </a:accent5>
      <a:accent6>
        <a:srgbClr val="0D3E86"/>
      </a:accent6>
      <a:hlink>
        <a:srgbClr val="1660C4"/>
      </a:hlink>
      <a:folHlink>
        <a:srgbClr val="6B7A90"/>
      </a:folHlink>
    </a:clrScheme>
    <a:fontScheme name="FIEPA CRM">
      <a:majorFont>
        <a:latin typeface="Segoe U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FIEPA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Reimplantação CRM Dynamics</dc:title>
  <dc:subject>PptxGenJS Presentation</dc:subject>
  <dc:creator>Sistema FIEPA</dc:creator>
  <cp:lastModifiedBy>Sistema FIEPA</cp:lastModifiedBy>
  <cp:revision>1</cp:revision>
  <dcterms:created xsi:type="dcterms:W3CDTF">2026-10-21T18:16:27Z</dcterms:created>
  <dcterms:modified xsi:type="dcterms:W3CDTF">2026-10-21T18:16:27Z</dcterms:modified>
</cp:coreProperties>
</file>