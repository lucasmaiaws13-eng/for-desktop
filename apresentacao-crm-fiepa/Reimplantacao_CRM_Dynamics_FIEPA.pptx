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apa" id="{2f597988-8544-0cfe-b68a-61127df9aace}">
          <p14:sldIdLst>
            <p14:sldId id="256"/>
          </p14:sldIdLst>
        </p14:section>
        <p14:section name="Agenda" id="{38d861d4-7c1f-5eef-ef7c-2d3d4a46017c}">
          <p14:sldIdLst>
            <p14:sldId id="257"/>
          </p14:sldIdLst>
        </p14:section>
        <p14:section name="01 – Justificativa" id="{7e08b856-1d4d-4035-e643-90cee6ff0e92}">
          <p14:sldIdLst>
            <p14:sldId id="258"/>
          </p14:sldIdLst>
        </p14:section>
        <p14:section name="02 – Valor para a gestão" id="{78d84179-3746-fd89-dd74-cc87bc07382a}">
          <p14:sldIdLst>
            <p14:sldId id="259"/>
          </p14:sldIdLst>
        </p14:section>
        <p14:section name="03 – Integrações e controle" id="{b3c4ac2a-e380-a10f-57b7-e89a0f86b795}">
          <p14:sldIdLst>
            <p14:sldId id="260"/>
          </p14:sldIdLst>
        </p14:section>
        <p14:section name="04 – Entregas" id="{26c65652-d793-6cfb-0da6-93c25031dc7d}">
          <p14:sldIdLst>
            <p14:sldId id="261"/>
          </p14:sldIdLst>
        </p14:section>
        <p14:section name="05 – Investimento" id="{290d384f-b062-e8e1-20fe-c027efbb7a3f}">
          <p14:sldIdLst>
            <p14:sldId id="262"/>
            <p14:sldId id="263"/>
          </p14:sldIdLst>
        </p14:section>
        <p14:section name="06 – Escopo" id="{93677d87-7a15-c49f-ec50-4645c9a3e9ee}">
          <p14:sldIdLst>
            <p14:sldId id="264"/>
          </p14:sldIdLst>
        </p14:section>
        <p14:section name="Encerramento" id="{5ec2466b-e574-adce-25bc-acdea80248b6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Rateio por casa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A2A5E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0B5CAD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22C3E6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FIEPA</c:v>
                </c:pt>
                <c:pt idx="1">
                  <c:v>SESI</c:v>
                </c:pt>
                <c:pt idx="2">
                  <c:v>SENAI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33.33</c:v>
                </c:pt>
                <c:pt idx="1">
                  <c:v>33.33</c:v>
                </c:pt>
                <c:pt idx="2">
                  <c:v>33.33</c:v>
                </c:pt>
              </c:numCache>
            </c:numRef>
          </c:val>
        </c:ser>
        <c:firstSliceAng val="0"/>
        <c:holeSize val="64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Abertura: a proposta de reimplantação do CRM Dynamics para o Sistema FIEPA, apoiada em três pilares — processo único, visão integrada e controle e gestão.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Roteiro da apresentação em seis blocos: justificativa, valor para a gestão, integrações e controle, entregas, investimento e escopo.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problemas do CRM atual: processo desalinhado, baixa visão gerencial e retrabalho/legado. A consequência é menor capacidade de acompanhar oportunidades, padronizar decisões e planejar resultados.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ganho vai além da atualização técnica: cliente 360º, governança, decisão apoiada em metas e previsão, e eficiência com menos controles paralelos.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Dynamics 365 Sales é o centro: integra-se ao F&amp;SCM (contas nos dois sentidos), ao CRM Nacional da CNI, ao Outlook/Teams e ao SharePoint. A consulta por CNPJ entra na Onda 2. Segurança: segregação por entidade, perfis e hierarquia, campos sensíveis protegidos e auditoria.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Duas ondas. Onda 1 (18 semanas, ~4 meses): o núcleo comercial completo — regras, ambientes, fluxo de vendas, alçadas, Power BI, integrações e migração. Onda 2 (4 semanas, ~1 mês): painéis avançados e cadastro por CNPJ.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Opção A cobre a Onda 1 (núcleo comercial); a Opção B inclui as duas ondas. Modelo Time &amp; Materials: o faturamento acompanha as horas medidas e aprovadas.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investimento é dividido igualmente entre FIEPA, SESI e SENAI (33,33% cada) nas duas opções.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Limites da proposta: licenças e Azure fora do escopo; mobilização em até 40 dias úteis após aceite e assinatura; horas medidas mensalmente, com até 5 dias úteis para aprovação; sustentação pós-Onda 2 e WhatsApp fora do escopo.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 e abertura para dúvidas.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FIEPA-Conteudo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FIEPA-Escuro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FIEPA-Limpo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EPA Conteud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0" y="475488"/>
            <a:ext cx="1584655" cy="2743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420624"/>
            <a:ext cx="73152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5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694944"/>
            <a:ext cx="932688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1371600"/>
            <a:ext cx="93268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9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EPA Escuro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EPA Limpo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9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9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svg"/><Relationship Id="rId4" Type="http://schemas.openxmlformats.org/officeDocument/2006/relationships/image" Target="../media/image-1-4.png"/><Relationship Id="rId5" Type="http://schemas.openxmlformats.org/officeDocument/2006/relationships/image" Target="../media/image-1-5.svg"/><Relationship Id="rId6" Type="http://schemas.openxmlformats.org/officeDocument/2006/relationships/image" Target="../media/image-1-6.png"/><Relationship Id="rId7" Type="http://schemas.openxmlformats.org/officeDocument/2006/relationships/image" Target="../media/image-1-7.svg"/><Relationship Id="rId8" Type="http://schemas.openxmlformats.org/officeDocument/2006/relationships/image" Target="../media/image-1-8.png"/><Relationship Id="rId9" Type="http://schemas.openxmlformats.org/officeDocument/2006/relationships/image" Target="../media/image-1-9.svg"/><Relationship Id="rId10" Type="http://schemas.openxmlformats.org/officeDocument/2006/relationships/image" Target="../media/image-1-10.png"/><Relationship Id="rId11" Type="http://schemas.openxmlformats.org/officeDocument/2006/relationships/image" Target="../media/image-1-11.svg"/><Relationship Id="rId12" Type="http://schemas.openxmlformats.org/officeDocument/2006/relationships/image" Target="../media/image-1-12.png"/><Relationship Id="rId13" Type="http://schemas.openxmlformats.org/officeDocument/2006/relationships/image" Target="../media/image-1-13.svg"/><Relationship Id="rId14" Type="http://schemas.openxmlformats.org/officeDocument/2006/relationships/image" Target="../media/image-1-14.png"/><Relationship Id="rId15" Type="http://schemas.openxmlformats.org/officeDocument/2006/relationships/image" Target="../media/image-1-15.svg"/><Relationship Id="rId16" Type="http://schemas.openxmlformats.org/officeDocument/2006/relationships/image" Target="../media/image-1-16.png"/><Relationship Id="rId17" Type="http://schemas.openxmlformats.org/officeDocument/2006/relationships/image" Target="../media/image-1-17.svg"/><Relationship Id="rId18" Type="http://schemas.openxmlformats.org/officeDocument/2006/relationships/image" Target="../media/image-1-18.png"/><Relationship Id="rId19" Type="http://schemas.openxmlformats.org/officeDocument/2006/relationships/image" Target="../media/image-1-19.svg"/><Relationship Id="rId20" Type="http://schemas.openxmlformats.org/officeDocument/2006/relationships/image" Target="../media/image-1-20.png"/><Relationship Id="rId21" Type="http://schemas.openxmlformats.org/officeDocument/2006/relationships/image" Target="../media/image-1-21.svg"/><Relationship Id="rId22" Type="http://schemas.openxmlformats.org/officeDocument/2006/relationships/image" Target="../media/image-1-22.png"/><Relationship Id="rId23" Type="http://schemas.openxmlformats.org/officeDocument/2006/relationships/image" Target="../media/image-1-23.svg"/><Relationship Id="rId24" Type="http://schemas.openxmlformats.org/officeDocument/2006/relationships/slideLayout" Target="../slideLayouts/slideLayout3.xml"/><Relationship Id="rId2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image" Target="../media/image-2-9.png"/><Relationship Id="rId10" Type="http://schemas.openxmlformats.org/officeDocument/2006/relationships/image" Target="../media/image-2-10.svg"/><Relationship Id="rId11" Type="http://schemas.openxmlformats.org/officeDocument/2006/relationships/image" Target="../media/image-2-11.png"/><Relationship Id="rId12" Type="http://schemas.openxmlformats.org/officeDocument/2006/relationships/image" Target="../media/image-2-12.svg"/><Relationship Id="rId13" Type="http://schemas.openxmlformats.org/officeDocument/2006/relationships/image" Target="../media/image-2-13.png"/><Relationship Id="rId14" Type="http://schemas.openxmlformats.org/officeDocument/2006/relationships/image" Target="../media/image-2-14.svg"/><Relationship Id="rId15" Type="http://schemas.openxmlformats.org/officeDocument/2006/relationships/slideLayout" Target="../slideLayouts/slideLayout4.xml"/><Relationship Id="rId1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image" Target="../media/image-3-7.png"/><Relationship Id="rId8" Type="http://schemas.openxmlformats.org/officeDocument/2006/relationships/image" Target="../media/image-3-8.sv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image" Target="../media/image-5-13.png"/><Relationship Id="rId14" Type="http://schemas.openxmlformats.org/officeDocument/2006/relationships/image" Target="../media/image-5-14.svg"/><Relationship Id="rId15" Type="http://schemas.openxmlformats.org/officeDocument/2006/relationships/image" Target="../media/image-5-15.png"/><Relationship Id="rId16" Type="http://schemas.openxmlformats.org/officeDocument/2006/relationships/image" Target="../media/image-5-16.svg"/><Relationship Id="rId17" Type="http://schemas.openxmlformats.org/officeDocument/2006/relationships/image" Target="../media/image-5-17.png"/><Relationship Id="rId18" Type="http://schemas.openxmlformats.org/officeDocument/2006/relationships/image" Target="../media/image-5-18.svg"/><Relationship Id="rId19" Type="http://schemas.openxmlformats.org/officeDocument/2006/relationships/image" Target="../media/image-5-19.png"/><Relationship Id="rId20" Type="http://schemas.openxmlformats.org/officeDocument/2006/relationships/image" Target="../media/image-5-20.svg"/><Relationship Id="rId21" Type="http://schemas.openxmlformats.org/officeDocument/2006/relationships/image" Target="../media/image-5-21.png"/><Relationship Id="rId22" Type="http://schemas.openxmlformats.org/officeDocument/2006/relationships/image" Target="../media/image-5-22.svg"/><Relationship Id="rId23" Type="http://schemas.openxmlformats.org/officeDocument/2006/relationships/slideLayout" Target="../slideLayouts/slideLayout2.xml"/><Relationship Id="rId2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image" Target="../media/image-6-13.png"/><Relationship Id="rId14" Type="http://schemas.openxmlformats.org/officeDocument/2006/relationships/image" Target="../media/image-6-14.svg"/><Relationship Id="rId15" Type="http://schemas.openxmlformats.org/officeDocument/2006/relationships/image" Target="../media/image-6-15.png"/><Relationship Id="rId16" Type="http://schemas.openxmlformats.org/officeDocument/2006/relationships/image" Target="../media/image-6-16.svg"/><Relationship Id="rId17" Type="http://schemas.openxmlformats.org/officeDocument/2006/relationships/image" Target="../media/image-6-17.png"/><Relationship Id="rId18" Type="http://schemas.openxmlformats.org/officeDocument/2006/relationships/image" Target="../media/image-6-18.svg"/><Relationship Id="rId19" Type="http://schemas.openxmlformats.org/officeDocument/2006/relationships/image" Target="../media/image-6-19.png"/><Relationship Id="rId20" Type="http://schemas.openxmlformats.org/officeDocument/2006/relationships/image" Target="../media/image-6-20.svg"/><Relationship Id="rId21" Type="http://schemas.openxmlformats.org/officeDocument/2006/relationships/image" Target="../media/image-6-21.png"/><Relationship Id="rId22" Type="http://schemas.openxmlformats.org/officeDocument/2006/relationships/image" Target="../media/image-6-22.svg"/><Relationship Id="rId23" Type="http://schemas.openxmlformats.org/officeDocument/2006/relationships/image" Target="../media/image-6-23.png"/><Relationship Id="rId24" Type="http://schemas.openxmlformats.org/officeDocument/2006/relationships/image" Target="../media/image-6-24.svg"/><Relationship Id="rId25" Type="http://schemas.openxmlformats.org/officeDocument/2006/relationships/slideLayout" Target="../slideLayouts/slideLayout2.xml"/><Relationship Id="rId2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image" Target="../media/image-7-13.png"/><Relationship Id="rId14" Type="http://schemas.openxmlformats.org/officeDocument/2006/relationships/image" Target="../media/image-7-14.svg"/><Relationship Id="rId15" Type="http://schemas.openxmlformats.org/officeDocument/2006/relationships/image" Target="../media/image-7-15.png"/><Relationship Id="rId16" Type="http://schemas.openxmlformats.org/officeDocument/2006/relationships/image" Target="../media/image-7-16.svg"/><Relationship Id="rId17" Type="http://schemas.openxmlformats.org/officeDocument/2006/relationships/image" Target="../media/image-7-17.png"/><Relationship Id="rId18" Type="http://schemas.openxmlformats.org/officeDocument/2006/relationships/image" Target="../media/image-7-18.svg"/><Relationship Id="rId19" Type="http://schemas.openxmlformats.org/officeDocument/2006/relationships/slideLayout" Target="../slideLayouts/slideLayout2.xml"/><Relationship Id="rId2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image" Target="../media/image-9-5.png"/><Relationship Id="rId6" Type="http://schemas.openxmlformats.org/officeDocument/2006/relationships/image" Target="../media/image-9-6.svg"/><Relationship Id="rId7" Type="http://schemas.openxmlformats.org/officeDocument/2006/relationships/image" Target="../media/image-9-7.png"/><Relationship Id="rId8" Type="http://schemas.openxmlformats.org/officeDocument/2006/relationships/image" Target="../media/image-9-8.sv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image" Target="../media/image-10-7.png"/><Relationship Id="rId8" Type="http://schemas.openxmlformats.org/officeDocument/2006/relationships/image" Target="../media/image-10-8.svg"/><Relationship Id="rId9" Type="http://schemas.openxmlformats.org/officeDocument/2006/relationships/image" Target="../media/image-10-9.png"/><Relationship Id="rId10" Type="http://schemas.openxmlformats.org/officeDocument/2006/relationships/image" Target="../media/image-10-10.sv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sv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svg"/><Relationship Id="rId15" Type="http://schemas.openxmlformats.org/officeDocument/2006/relationships/image" Target="../media/image-10-15.png"/><Relationship Id="rId16" Type="http://schemas.openxmlformats.org/officeDocument/2006/relationships/image" Target="../media/image-10-16.svg"/><Relationship Id="rId17" Type="http://schemas.openxmlformats.org/officeDocument/2006/relationships/image" Target="../media/image-10-17.png"/><Relationship Id="rId18" Type="http://schemas.openxmlformats.org/officeDocument/2006/relationships/slideLayout" Target="../slideLayouts/slideLayout3.xml"/><Relationship Id="rId19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 FIEPA" descr="assets/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0080"/>
            <a:ext cx="2377440" cy="411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3"/>
                </a:solidFill>
              </a:rPr>
              <a:t>SISTEMA FIEPA  ·  PROPOSTA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920240"/>
            <a:ext cx="6583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5400" dirty="0">
                <a:solidFill>
                  <a:schemeClr val="bg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Reimplantação</a:t>
            </a:r>
            <a:endParaRPr lang="en-US" sz="5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5400" dirty="0">
                <a:solidFill>
                  <a:schemeClr val="accent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CRM Dynamics</a:t>
            </a:r>
            <a:endParaRPr lang="en-US" sz="5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730752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D7E6F7"/>
                </a:solidFill>
              </a:rPr>
              <a:t>Gestão comercial integrada para o Sistema FIEPA</a:t>
            </a:r>
            <a:endParaRPr lang="en-US" sz="2000" dirty="0"/>
          </a:p>
        </p:txBody>
      </p:sp>
      <p:sp>
        <p:nvSpPr>
          <p:cNvPr id="6" name="Brilho"/>
          <p:cNvSpPr/>
          <p:nvPr/>
        </p:nvSpPr>
        <p:spPr>
          <a:xfrm>
            <a:off x="7315200" y="457200"/>
            <a:ext cx="4297680" cy="4297680"/>
          </a:xfrm>
          <a:prstGeom prst="ellipse">
            <a:avLst/>
          </a:prstGeom>
          <a:solidFill>
            <a:schemeClr val="accent3">
              <a:alpha val="7000"/>
            </a:schemeClr>
          </a:solidFill>
          <a:ln/>
        </p:spPr>
      </p:sp>
      <p:sp>
        <p:nvSpPr>
          <p:cNvPr id="7" name="Órbita"/>
          <p:cNvSpPr/>
          <p:nvPr/>
        </p:nvSpPr>
        <p:spPr>
          <a:xfrm>
            <a:off x="7543800" y="685800"/>
            <a:ext cx="3840480" cy="3840480"/>
          </a:xfrm>
          <a:prstGeom prst="ellipse">
            <a:avLst/>
          </a:prstGeom>
          <a:ln w="12700">
            <a:solidFill>
              <a:srgbClr val="FFFFFF">
                <a:alpha val="28000"/>
              </a:srgbClr>
            </a:solidFill>
            <a:prstDash val="dash"/>
          </a:ln>
        </p:spPr>
      </p:sp>
      <p:sp>
        <p:nvSpPr>
          <p:cNvPr id="8" name="Órbita"/>
          <p:cNvSpPr/>
          <p:nvPr/>
        </p:nvSpPr>
        <p:spPr>
          <a:xfrm>
            <a:off x="8206740" y="1348740"/>
            <a:ext cx="2514600" cy="2514600"/>
          </a:xfrm>
          <a:prstGeom prst="ellipse">
            <a:avLst/>
          </a:prstGeom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Núcleo CRM"/>
          <p:cNvSpPr/>
          <p:nvPr/>
        </p:nvSpPr>
        <p:spPr>
          <a:xfrm>
            <a:off x="8732520" y="1874520"/>
            <a:ext cx="1463040" cy="146304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254000" dist="50800" dir="5400000">
              <a:srgbClr val="000000">
                <a:alpha val="30000"/>
              </a:srgbClr>
            </a:outerShdw>
          </a:effectLst>
        </p:spPr>
      </p:sp>
      <p:pic>
        <p:nvPicPr>
          <p:cNvPr id="10" name="Núcleo CRM (ícone)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006840" y="2148840"/>
            <a:ext cx="914400" cy="914400"/>
          </a:xfrm>
          <a:prstGeom prst="rect">
            <a:avLst/>
          </a:prstGeom>
        </p:spPr>
      </p:pic>
      <p:sp>
        <p:nvSpPr>
          <p:cNvPr id="11" name="Órbita nó 1 (fundo)"/>
          <p:cNvSpPr/>
          <p:nvPr/>
        </p:nvSpPr>
        <p:spPr>
          <a:xfrm>
            <a:off x="9134856" y="356616"/>
            <a:ext cx="658368" cy="658368"/>
          </a:xfrm>
          <a:prstGeom prst="ellipse">
            <a:avLst/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000000">
                <a:alpha val="25000"/>
              </a:srgbClr>
            </a:outerShdw>
          </a:effectLst>
        </p:spPr>
      </p:sp>
      <p:pic>
        <p:nvPicPr>
          <p:cNvPr id="12" name="Órbita nó 1 (ícone)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266530" y="488290"/>
            <a:ext cx="395021" cy="395021"/>
          </a:xfrm>
          <a:prstGeom prst="rect">
            <a:avLst/>
          </a:prstGeom>
        </p:spPr>
      </p:pic>
      <p:sp>
        <p:nvSpPr>
          <p:cNvPr id="13" name="Órbita nó 2 (fundo)"/>
          <p:cNvSpPr/>
          <p:nvPr/>
        </p:nvSpPr>
        <p:spPr>
          <a:xfrm>
            <a:off x="10961113" y="1683469"/>
            <a:ext cx="658368" cy="658368"/>
          </a:xfrm>
          <a:prstGeom prst="ellipse">
            <a:avLst/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000000">
                <a:alpha val="25000"/>
              </a:srgbClr>
            </a:outerShdw>
          </a:effectLst>
        </p:spPr>
      </p:sp>
      <p:pic>
        <p:nvPicPr>
          <p:cNvPr id="14" name="Órbita nó 2 (ícone)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092786" y="1815143"/>
            <a:ext cx="395021" cy="395021"/>
          </a:xfrm>
          <a:prstGeom prst="rect">
            <a:avLst/>
          </a:prstGeom>
        </p:spPr>
      </p:pic>
      <p:sp>
        <p:nvSpPr>
          <p:cNvPr id="15" name="Órbita nó 3 (fundo)"/>
          <p:cNvSpPr/>
          <p:nvPr/>
        </p:nvSpPr>
        <p:spPr>
          <a:xfrm>
            <a:off x="10263545" y="3830363"/>
            <a:ext cx="658368" cy="658368"/>
          </a:xfrm>
          <a:prstGeom prst="ellipse">
            <a:avLst/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000000">
                <a:alpha val="25000"/>
              </a:srgbClr>
            </a:outerShdw>
          </a:effectLst>
        </p:spPr>
      </p:sp>
      <p:pic>
        <p:nvPicPr>
          <p:cNvPr id="16" name="Órbita nó 3 (ícone)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395218" y="3962036"/>
            <a:ext cx="395021" cy="395021"/>
          </a:xfrm>
          <a:prstGeom prst="rect">
            <a:avLst/>
          </a:prstGeom>
        </p:spPr>
      </p:pic>
      <p:sp>
        <p:nvSpPr>
          <p:cNvPr id="17" name="Órbita nó 4 (fundo)"/>
          <p:cNvSpPr/>
          <p:nvPr/>
        </p:nvSpPr>
        <p:spPr>
          <a:xfrm>
            <a:off x="8006167" y="3830363"/>
            <a:ext cx="658368" cy="658368"/>
          </a:xfrm>
          <a:prstGeom prst="ellipse">
            <a:avLst/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000000">
                <a:alpha val="25000"/>
              </a:srgbClr>
            </a:outerShdw>
          </a:effectLst>
        </p:spPr>
      </p:sp>
      <p:pic>
        <p:nvPicPr>
          <p:cNvPr id="18" name="Órbita nó 4 (ícone)" descr="preencoded.pn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137841" y="3962036"/>
            <a:ext cx="395021" cy="395021"/>
          </a:xfrm>
          <a:prstGeom prst="rect">
            <a:avLst/>
          </a:prstGeom>
        </p:spPr>
      </p:pic>
      <p:sp>
        <p:nvSpPr>
          <p:cNvPr id="19" name="Órbita nó 5 (fundo)"/>
          <p:cNvSpPr/>
          <p:nvPr/>
        </p:nvSpPr>
        <p:spPr>
          <a:xfrm>
            <a:off x="7308599" y="1683469"/>
            <a:ext cx="658368" cy="658368"/>
          </a:xfrm>
          <a:prstGeom prst="ellipse">
            <a:avLst/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000000">
                <a:alpha val="25000"/>
              </a:srgbClr>
            </a:outerShdw>
          </a:effectLst>
        </p:spPr>
      </p:sp>
      <p:pic>
        <p:nvPicPr>
          <p:cNvPr id="20" name="Órbita nó 5 (ícone)" descr="preencoded.png">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440273" y="1815143"/>
            <a:ext cx="395021" cy="395021"/>
          </a:xfrm>
          <a:prstGeom prst="rect">
            <a:avLst/>
          </a:prstGeom>
        </p:spPr>
      </p:pic>
      <p:sp>
        <p:nvSpPr>
          <p:cNvPr id="21" name="Órbita nó 6 (fundo)"/>
          <p:cNvSpPr/>
          <p:nvPr/>
        </p:nvSpPr>
        <p:spPr>
          <a:xfrm>
            <a:off x="10416916" y="2807462"/>
            <a:ext cx="457200" cy="457200"/>
          </a:xfrm>
          <a:prstGeom prst="ellipse">
            <a:avLst/>
          </a:prstGeom>
          <a:solidFill>
            <a:schemeClr val="accent3"/>
          </a:solidFill>
          <a:ln/>
          <a:effectLst>
            <a:outerShdw sx="100000" sy="100000" kx="0" ky="0" algn="bl" rotWithShape="0" blurRad="127000" dist="38100" dir="5400000">
              <a:srgbClr val="000000">
                <a:alpha val="25000"/>
              </a:srgbClr>
            </a:outerShdw>
          </a:effectLst>
        </p:spPr>
      </p:sp>
      <p:pic>
        <p:nvPicPr>
          <p:cNvPr id="22" name="Órbita nó 6 (ícone)" descr="preencoded.png">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0508356" y="2898902"/>
            <a:ext cx="274320" cy="274320"/>
          </a:xfrm>
          <a:prstGeom prst="rect">
            <a:avLst/>
          </a:prstGeom>
        </p:spPr>
      </p:pic>
      <p:sp>
        <p:nvSpPr>
          <p:cNvPr id="23" name="Órbita nó 7 (fundo)"/>
          <p:cNvSpPr/>
          <p:nvPr/>
        </p:nvSpPr>
        <p:spPr>
          <a:xfrm>
            <a:off x="8053964" y="1947418"/>
            <a:ext cx="457200" cy="457200"/>
          </a:xfrm>
          <a:prstGeom prst="ellipse">
            <a:avLst/>
          </a:prstGeom>
          <a:solidFill>
            <a:schemeClr val="accent3"/>
          </a:solidFill>
          <a:ln/>
          <a:effectLst>
            <a:outerShdw sx="100000" sy="100000" kx="0" ky="0" algn="bl" rotWithShape="0" blurRad="127000" dist="38100" dir="5400000">
              <a:srgbClr val="000000">
                <a:alpha val="25000"/>
              </a:srgbClr>
            </a:outerShdw>
          </a:effectLst>
        </p:spPr>
      </p:sp>
      <p:pic>
        <p:nvPicPr>
          <p:cNvPr id="24" name="Órbita nó 7 (ícone)" descr="preencoded.png">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145404" y="2038858"/>
            <a:ext cx="274320" cy="274320"/>
          </a:xfrm>
          <a:prstGeom prst="rect">
            <a:avLst/>
          </a:prstGeom>
        </p:spPr>
      </p:pic>
      <p:sp>
        <p:nvSpPr>
          <p:cNvPr id="25" name="Pilar 1"/>
          <p:cNvSpPr/>
          <p:nvPr/>
        </p:nvSpPr>
        <p:spPr>
          <a:xfrm>
            <a:off x="640080" y="4983480"/>
            <a:ext cx="3576218" cy="1188720"/>
          </a:xfrm>
          <a:prstGeom prst="roundRect">
            <a:avLst>
              <a:gd name="adj" fmla="val 10769"/>
            </a:avLst>
          </a:prstGeom>
          <a:solidFill>
            <a:schemeClr val="bg1">
              <a:alpha val="12000"/>
            </a:schemeClr>
          </a:solidFill>
          <a:ln w="9525">
            <a:solidFill>
              <a:schemeClr val="bg1">
                <a:alpha val="30000"/>
              </a:schemeClr>
            </a:solidFill>
            <a:prstDash val="solid"/>
          </a:ln>
        </p:spPr>
      </p:sp>
      <p:sp>
        <p:nvSpPr>
          <p:cNvPr id="26" name="Pilar 1 (fundo)"/>
          <p:cNvSpPr/>
          <p:nvPr/>
        </p:nvSpPr>
        <p:spPr>
          <a:xfrm>
            <a:off x="896112" y="5248656"/>
            <a:ext cx="658368" cy="65836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7" name="Pilar 1 (ícone)" descr="preencoded.png">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034369" y="5386913"/>
            <a:ext cx="381853" cy="381853"/>
          </a:xfrm>
          <a:prstGeom prst="rect">
            <a:avLst/>
          </a:prstGeom>
        </p:spPr>
      </p:pic>
      <p:sp>
        <p:nvSpPr>
          <p:cNvPr id="28" name="Text 16"/>
          <p:cNvSpPr txBox="1"/>
          <p:nvPr/>
        </p:nvSpPr>
        <p:spPr>
          <a:xfrm>
            <a:off x="1737360" y="5257800"/>
            <a:ext cx="2296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PROCESSO ÚNICO</a:t>
            </a:r>
            <a:endParaRPr lang="en-US" sz="1500" dirty="0"/>
          </a:p>
        </p:txBody>
      </p:sp>
      <p:sp>
        <p:nvSpPr>
          <p:cNvPr id="29" name="Text 17"/>
          <p:cNvSpPr txBox="1"/>
          <p:nvPr/>
        </p:nvSpPr>
        <p:spPr>
          <a:xfrm>
            <a:off x="1737360" y="5586984"/>
            <a:ext cx="2296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7E6F7"/>
                </a:solidFill>
              </a:rPr>
              <a:t>Etapas e regras comerciais comuns</a:t>
            </a:r>
            <a:endParaRPr lang="en-US" sz="1400" dirty="0"/>
          </a:p>
        </p:txBody>
      </p:sp>
      <p:sp>
        <p:nvSpPr>
          <p:cNvPr id="30" name="Pilar 2"/>
          <p:cNvSpPr/>
          <p:nvPr/>
        </p:nvSpPr>
        <p:spPr>
          <a:xfrm>
            <a:off x="4444898" y="4983480"/>
            <a:ext cx="3576218" cy="1188720"/>
          </a:xfrm>
          <a:prstGeom prst="roundRect">
            <a:avLst>
              <a:gd name="adj" fmla="val 10769"/>
            </a:avLst>
          </a:prstGeom>
          <a:solidFill>
            <a:schemeClr val="bg1">
              <a:alpha val="12000"/>
            </a:schemeClr>
          </a:solidFill>
          <a:ln w="9525">
            <a:solidFill>
              <a:schemeClr val="bg1">
                <a:alpha val="30000"/>
              </a:schemeClr>
            </a:solidFill>
            <a:prstDash val="solid"/>
          </a:ln>
        </p:spPr>
      </p:sp>
      <p:sp>
        <p:nvSpPr>
          <p:cNvPr id="31" name="Pilar 2 (fundo)"/>
          <p:cNvSpPr/>
          <p:nvPr/>
        </p:nvSpPr>
        <p:spPr>
          <a:xfrm>
            <a:off x="4700930" y="5248656"/>
            <a:ext cx="658368" cy="65836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32" name="Pilar 2 (ícone)" descr="preencoded.png">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4839188" y="5386913"/>
            <a:ext cx="381853" cy="381853"/>
          </a:xfrm>
          <a:prstGeom prst="rect">
            <a:avLst/>
          </a:prstGeom>
        </p:spPr>
      </p:pic>
      <p:sp>
        <p:nvSpPr>
          <p:cNvPr id="33" name="Text 20"/>
          <p:cNvSpPr txBox="1"/>
          <p:nvPr/>
        </p:nvSpPr>
        <p:spPr>
          <a:xfrm>
            <a:off x="5542178" y="5257800"/>
            <a:ext cx="2296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VISÃO INTEGRADA</a:t>
            </a:r>
            <a:endParaRPr lang="en-US" sz="1500" dirty="0"/>
          </a:p>
        </p:txBody>
      </p:sp>
      <p:sp>
        <p:nvSpPr>
          <p:cNvPr id="34" name="Text 21"/>
          <p:cNvSpPr txBox="1"/>
          <p:nvPr/>
        </p:nvSpPr>
        <p:spPr>
          <a:xfrm>
            <a:off x="5542178" y="5586984"/>
            <a:ext cx="2296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7E6F7"/>
                </a:solidFill>
              </a:rPr>
              <a:t>de clientes e oportunidades</a:t>
            </a:r>
            <a:endParaRPr lang="en-US" sz="1400" dirty="0"/>
          </a:p>
        </p:txBody>
      </p:sp>
      <p:sp>
        <p:nvSpPr>
          <p:cNvPr id="35" name="Pilar 3"/>
          <p:cNvSpPr/>
          <p:nvPr/>
        </p:nvSpPr>
        <p:spPr>
          <a:xfrm>
            <a:off x="8249717" y="4983480"/>
            <a:ext cx="3576218" cy="1188720"/>
          </a:xfrm>
          <a:prstGeom prst="roundRect">
            <a:avLst>
              <a:gd name="adj" fmla="val 10769"/>
            </a:avLst>
          </a:prstGeom>
          <a:solidFill>
            <a:schemeClr val="bg1">
              <a:alpha val="12000"/>
            </a:schemeClr>
          </a:solidFill>
          <a:ln w="9525">
            <a:solidFill>
              <a:schemeClr val="bg1">
                <a:alpha val="30000"/>
              </a:schemeClr>
            </a:solidFill>
            <a:prstDash val="solid"/>
          </a:ln>
        </p:spPr>
      </p:sp>
      <p:sp>
        <p:nvSpPr>
          <p:cNvPr id="36" name="Pilar 3 (fundo)"/>
          <p:cNvSpPr/>
          <p:nvPr/>
        </p:nvSpPr>
        <p:spPr>
          <a:xfrm>
            <a:off x="8505749" y="5248656"/>
            <a:ext cx="658368" cy="65836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37" name="Pilar 3 (ícone)" descr="preencoded.png">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8644006" y="5386913"/>
            <a:ext cx="381853" cy="381853"/>
          </a:xfrm>
          <a:prstGeom prst="rect">
            <a:avLst/>
          </a:prstGeom>
        </p:spPr>
      </p:pic>
      <p:sp>
        <p:nvSpPr>
          <p:cNvPr id="38" name="Text 24"/>
          <p:cNvSpPr txBox="1"/>
          <p:nvPr/>
        </p:nvSpPr>
        <p:spPr>
          <a:xfrm>
            <a:off x="9346997" y="5257800"/>
            <a:ext cx="2296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CONTROLE E GESTÃO</a:t>
            </a:r>
            <a:endParaRPr lang="en-US" sz="1500" dirty="0"/>
          </a:p>
        </p:txBody>
      </p:sp>
      <p:sp>
        <p:nvSpPr>
          <p:cNvPr id="39" name="Text 25"/>
          <p:cNvSpPr txBox="1"/>
          <p:nvPr/>
        </p:nvSpPr>
        <p:spPr>
          <a:xfrm>
            <a:off x="9346997" y="5586984"/>
            <a:ext cx="2296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7E6F7"/>
                </a:solidFill>
              </a:rPr>
              <a:t>Indicadores e rastreabilidade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inel lateral" descr="assets/panel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069080" cy="6858000"/>
          </a:xfrm>
          <a:prstGeom prst="rect">
            <a:avLst/>
          </a:prstGeom>
        </p:spPr>
      </p:pic>
      <p:pic>
        <p:nvPicPr>
          <p:cNvPr id="3" name="Logo FIEPA" descr="assets/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103120" cy="3657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40080" y="25146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3"/>
                </a:solidFill>
              </a:rPr>
              <a:t>ROTEIRO</a:t>
            </a:r>
            <a:endParaRPr lang="en-US" sz="1200" dirty="0"/>
          </a:p>
        </p:txBody>
      </p:sp>
      <p:sp>
        <p:nvSpPr>
          <p:cNvPr id="5" name="Text 1"/>
          <p:cNvSpPr txBox="1"/>
          <p:nvPr/>
        </p:nvSpPr>
        <p:spPr>
          <a:xfrm>
            <a:off x="640080" y="283464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bg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Agenda</a:t>
            </a:r>
            <a:endParaRPr lang="en-US" sz="48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3749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7E6F7"/>
                </a:solidFill>
              </a:rPr>
              <a:t>Reimplantação CRM Dynamics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4709160" y="859536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B9CFE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01</a:t>
            </a:r>
            <a:endParaRPr lang="en-US" sz="3200" dirty="0"/>
          </a:p>
        </p:txBody>
      </p:sp>
      <p:sp>
        <p:nvSpPr>
          <p:cNvPr id="8" name="Agenda 1 (fundo)"/>
          <p:cNvSpPr/>
          <p:nvPr/>
        </p:nvSpPr>
        <p:spPr>
          <a:xfrm>
            <a:off x="5623560" y="868680"/>
            <a:ext cx="566928" cy="566928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9" name="Agenda 1 (ícone)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42615" y="987735"/>
            <a:ext cx="328818" cy="32881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446520" y="85953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JUSTIFICATIVA</a:t>
            </a:r>
            <a:endParaRPr lang="en-US" sz="1200" dirty="0"/>
          </a:p>
        </p:txBody>
      </p:sp>
      <p:sp>
        <p:nvSpPr>
          <p:cNvPr id="11" name="Text 6"/>
          <p:cNvSpPr txBox="1"/>
          <p:nvPr/>
        </p:nvSpPr>
        <p:spPr>
          <a:xfrm>
            <a:off x="6446520" y="113385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</a:rPr>
              <a:t>O CRM atual limita a gestão comercial</a:t>
            </a:r>
            <a:endParaRPr lang="en-US" sz="1900" dirty="0"/>
          </a:p>
        </p:txBody>
      </p:sp>
      <p:sp>
        <p:nvSpPr>
          <p:cNvPr id="12" name="Divisor"/>
          <p:cNvSpPr/>
          <p:nvPr/>
        </p:nvSpPr>
        <p:spPr>
          <a:xfrm>
            <a:off x="5623560" y="1627632"/>
            <a:ext cx="5989320" cy="0"/>
          </a:xfrm>
          <a:prstGeom prst="line">
            <a:avLst/>
          </a:prstGeom>
          <a:noFill/>
          <a:ln w="9525">
            <a:solidFill>
              <a:srgbClr val="DCE7F5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4709160" y="1773936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B9CFE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02</a:t>
            </a:r>
            <a:endParaRPr lang="en-US" sz="3200" dirty="0"/>
          </a:p>
        </p:txBody>
      </p:sp>
      <p:sp>
        <p:nvSpPr>
          <p:cNvPr id="14" name="Agenda 2 (fundo)"/>
          <p:cNvSpPr/>
          <p:nvPr/>
        </p:nvSpPr>
        <p:spPr>
          <a:xfrm>
            <a:off x="5623560" y="1783080"/>
            <a:ext cx="566928" cy="566928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5" name="Agenda 2 (ícone)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742615" y="1902135"/>
            <a:ext cx="328818" cy="328818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6446520" y="177393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VALOR PARA A GESTÃO</a:t>
            </a:r>
            <a:endParaRPr lang="en-US" sz="1200" dirty="0"/>
          </a:p>
        </p:txBody>
      </p:sp>
      <p:sp>
        <p:nvSpPr>
          <p:cNvPr id="17" name="Text 11"/>
          <p:cNvSpPr txBox="1"/>
          <p:nvPr/>
        </p:nvSpPr>
        <p:spPr>
          <a:xfrm>
            <a:off x="6446520" y="204825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</a:rPr>
              <a:t>O que muda na prática</a:t>
            </a:r>
            <a:endParaRPr lang="en-US" sz="1900" dirty="0"/>
          </a:p>
        </p:txBody>
      </p:sp>
      <p:sp>
        <p:nvSpPr>
          <p:cNvPr id="18" name="Divisor"/>
          <p:cNvSpPr/>
          <p:nvPr/>
        </p:nvSpPr>
        <p:spPr>
          <a:xfrm>
            <a:off x="5623560" y="2542032"/>
            <a:ext cx="5989320" cy="0"/>
          </a:xfrm>
          <a:prstGeom prst="line">
            <a:avLst/>
          </a:prstGeom>
          <a:noFill/>
          <a:ln w="9525">
            <a:solidFill>
              <a:srgbClr val="DCE7F5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4709160" y="2688336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B9CFE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03</a:t>
            </a:r>
            <a:endParaRPr lang="en-US" sz="3200" dirty="0"/>
          </a:p>
        </p:txBody>
      </p:sp>
      <p:sp>
        <p:nvSpPr>
          <p:cNvPr id="20" name="Agenda 3 (fundo)"/>
          <p:cNvSpPr/>
          <p:nvPr/>
        </p:nvSpPr>
        <p:spPr>
          <a:xfrm>
            <a:off x="5623560" y="2697480"/>
            <a:ext cx="566928" cy="566928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21" name="Agenda 3 (ícone)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742615" y="2816535"/>
            <a:ext cx="328818" cy="328818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446520" y="268833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INTEGRAÇÕES E CONTROLE</a:t>
            </a:r>
            <a:endParaRPr lang="en-US" sz="1200" dirty="0"/>
          </a:p>
        </p:txBody>
      </p:sp>
      <p:sp>
        <p:nvSpPr>
          <p:cNvPr id="23" name="Text 16"/>
          <p:cNvSpPr txBox="1"/>
          <p:nvPr/>
        </p:nvSpPr>
        <p:spPr>
          <a:xfrm>
            <a:off x="6446520" y="296265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</a:rPr>
              <a:t>Sistemas conectados, acessos controlados</a:t>
            </a:r>
            <a:endParaRPr lang="en-US" sz="1900" dirty="0"/>
          </a:p>
        </p:txBody>
      </p:sp>
      <p:sp>
        <p:nvSpPr>
          <p:cNvPr id="24" name="Divisor"/>
          <p:cNvSpPr/>
          <p:nvPr/>
        </p:nvSpPr>
        <p:spPr>
          <a:xfrm>
            <a:off x="5623560" y="3456432"/>
            <a:ext cx="5989320" cy="0"/>
          </a:xfrm>
          <a:prstGeom prst="line">
            <a:avLst/>
          </a:prstGeom>
          <a:noFill/>
          <a:ln w="9525">
            <a:solidFill>
              <a:srgbClr val="DCE7F5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4709160" y="3602736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B9CFE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04</a:t>
            </a:r>
            <a:endParaRPr lang="en-US" sz="3200" dirty="0"/>
          </a:p>
        </p:txBody>
      </p:sp>
      <p:sp>
        <p:nvSpPr>
          <p:cNvPr id="26" name="Agenda 4 (fundo)"/>
          <p:cNvSpPr/>
          <p:nvPr/>
        </p:nvSpPr>
        <p:spPr>
          <a:xfrm>
            <a:off x="5623560" y="3611880"/>
            <a:ext cx="566928" cy="566928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27" name="Agenda 4 (ícone)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742615" y="3730935"/>
            <a:ext cx="328818" cy="328818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6446520" y="360273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ENTREGAS</a:t>
            </a:r>
            <a:endParaRPr lang="en-US" sz="1200" dirty="0"/>
          </a:p>
        </p:txBody>
      </p:sp>
      <p:sp>
        <p:nvSpPr>
          <p:cNvPr id="29" name="Text 21"/>
          <p:cNvSpPr txBox="1"/>
          <p:nvPr/>
        </p:nvSpPr>
        <p:spPr>
          <a:xfrm>
            <a:off x="6446520" y="387705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</a:rPr>
              <a:t>Etapas do projeto de reimplantação</a:t>
            </a:r>
            <a:endParaRPr lang="en-US" sz="1900" dirty="0"/>
          </a:p>
        </p:txBody>
      </p:sp>
      <p:sp>
        <p:nvSpPr>
          <p:cNvPr id="30" name="Divisor"/>
          <p:cNvSpPr/>
          <p:nvPr/>
        </p:nvSpPr>
        <p:spPr>
          <a:xfrm>
            <a:off x="5623560" y="4370832"/>
            <a:ext cx="5989320" cy="0"/>
          </a:xfrm>
          <a:prstGeom prst="line">
            <a:avLst/>
          </a:prstGeom>
          <a:noFill/>
          <a:ln w="9525">
            <a:solidFill>
              <a:srgbClr val="DCE7F5"/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4709160" y="4517136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B9CFE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05</a:t>
            </a:r>
            <a:endParaRPr lang="en-US" sz="3200" dirty="0"/>
          </a:p>
        </p:txBody>
      </p:sp>
      <p:sp>
        <p:nvSpPr>
          <p:cNvPr id="32" name="Agenda 5 (fundo)"/>
          <p:cNvSpPr/>
          <p:nvPr/>
        </p:nvSpPr>
        <p:spPr>
          <a:xfrm>
            <a:off x="5623560" y="4526280"/>
            <a:ext cx="566928" cy="566928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33" name="Agenda 5 (ícone)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742615" y="4645335"/>
            <a:ext cx="328818" cy="328818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6446520" y="451713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INVESTIMENTO</a:t>
            </a:r>
            <a:endParaRPr lang="en-US" sz="1200" dirty="0"/>
          </a:p>
        </p:txBody>
      </p:sp>
      <p:sp>
        <p:nvSpPr>
          <p:cNvPr id="35" name="Text 26"/>
          <p:cNvSpPr txBox="1"/>
          <p:nvPr/>
        </p:nvSpPr>
        <p:spPr>
          <a:xfrm>
            <a:off x="6446520" y="479145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</a:rPr>
              <a:t>Duas alternativas de contratação</a:t>
            </a:r>
            <a:endParaRPr lang="en-US" sz="1900" dirty="0"/>
          </a:p>
        </p:txBody>
      </p:sp>
      <p:sp>
        <p:nvSpPr>
          <p:cNvPr id="36" name="Divisor"/>
          <p:cNvSpPr/>
          <p:nvPr/>
        </p:nvSpPr>
        <p:spPr>
          <a:xfrm>
            <a:off x="5623560" y="5285232"/>
            <a:ext cx="5989320" cy="0"/>
          </a:xfrm>
          <a:prstGeom prst="line">
            <a:avLst/>
          </a:prstGeom>
          <a:noFill/>
          <a:ln w="9525">
            <a:solidFill>
              <a:srgbClr val="DCE7F5"/>
            </a:solidFill>
            <a:prstDash val="solid"/>
          </a:ln>
        </p:spPr>
      </p:sp>
      <p:sp>
        <p:nvSpPr>
          <p:cNvPr id="37" name="Text 28"/>
          <p:cNvSpPr txBox="1"/>
          <p:nvPr/>
        </p:nvSpPr>
        <p:spPr>
          <a:xfrm>
            <a:off x="4709160" y="5431536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B9CFE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06</a:t>
            </a:r>
            <a:endParaRPr lang="en-US" sz="3200" dirty="0"/>
          </a:p>
        </p:txBody>
      </p:sp>
      <p:sp>
        <p:nvSpPr>
          <p:cNvPr id="38" name="Agenda 6 (fundo)"/>
          <p:cNvSpPr/>
          <p:nvPr/>
        </p:nvSpPr>
        <p:spPr>
          <a:xfrm>
            <a:off x="5623560" y="5440680"/>
            <a:ext cx="566928" cy="566928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39" name="Agenda 6 (ícone)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42615" y="5559735"/>
            <a:ext cx="328818" cy="328818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6446520" y="543153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ESCOPO</a:t>
            </a:r>
            <a:endParaRPr lang="en-US" sz="1200" dirty="0"/>
          </a:p>
        </p:txBody>
      </p:sp>
      <p:sp>
        <p:nvSpPr>
          <p:cNvPr id="41" name="Text 31"/>
          <p:cNvSpPr txBox="1"/>
          <p:nvPr/>
        </p:nvSpPr>
        <p:spPr>
          <a:xfrm>
            <a:off x="6446520" y="570585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</a:rPr>
              <a:t>O que não está incluído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9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42062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chemeClr val="accent1"/>
                </a:solidFill>
              </a:rPr>
              <a:t>01 – JUSTIFICATIVA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94944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 CRM atual limita a gestão comercial</a:t>
            </a:r>
            <a:endParaRPr lang="en-US" sz="3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1371600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A reimplantação busca alinhar o processo à estrutura atual e recuperar visibilidade, integração e capacidade de evolução.</a:t>
            </a:r>
            <a:endParaRPr lang="en-US" sz="1500" dirty="0"/>
          </a:p>
        </p:txBody>
      </p:sp>
      <p:sp>
        <p:nvSpPr>
          <p:cNvPr id="5" name="Problema 1 (fundo)"/>
          <p:cNvSpPr/>
          <p:nvPr/>
        </p:nvSpPr>
        <p:spPr>
          <a:xfrm>
            <a:off x="548640" y="2240280"/>
            <a:ext cx="868680" cy="86868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6" name="Problema 1 (ícone)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063" y="2422703"/>
            <a:ext cx="503834" cy="50383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2258568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tx2"/>
                </a:solidFill>
              </a:rPr>
              <a:t>PROCESSO DESALINHADO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691640" y="2606040"/>
            <a:ext cx="5257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 fluxo atual não reflete plenamente a estrutura das entidades.</a:t>
            </a:r>
            <a:endParaRPr lang="en-US" sz="1400" dirty="0"/>
          </a:p>
        </p:txBody>
      </p:sp>
      <p:sp>
        <p:nvSpPr>
          <p:cNvPr id="9" name="Divisor"/>
          <p:cNvSpPr/>
          <p:nvPr/>
        </p:nvSpPr>
        <p:spPr>
          <a:xfrm>
            <a:off x="1691640" y="3383280"/>
            <a:ext cx="5257800" cy="0"/>
          </a:xfrm>
          <a:prstGeom prst="line">
            <a:avLst/>
          </a:prstGeom>
          <a:noFill/>
          <a:ln w="9525">
            <a:solidFill>
              <a:srgbClr val="D5E2F2"/>
            </a:solidFill>
            <a:prstDash val="solid"/>
          </a:ln>
        </p:spPr>
      </p:sp>
      <p:sp>
        <p:nvSpPr>
          <p:cNvPr id="10" name="Problema 2 (fundo)"/>
          <p:cNvSpPr/>
          <p:nvPr/>
        </p:nvSpPr>
        <p:spPr>
          <a:xfrm>
            <a:off x="548640" y="3566160"/>
            <a:ext cx="868680" cy="86868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11" name="Problema 2 (ícone)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1063" y="3748583"/>
            <a:ext cx="503834" cy="50383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691640" y="3584448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tx2"/>
                </a:solidFill>
              </a:rPr>
              <a:t>BAIXA VISÃO GERENCIAL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1691640" y="3931920"/>
            <a:ext cx="5257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Faltam relatórios consistentes para acompanhar funil, conversão e previsão.</a:t>
            </a:r>
            <a:endParaRPr lang="en-US" sz="1400" dirty="0"/>
          </a:p>
        </p:txBody>
      </p:sp>
      <p:sp>
        <p:nvSpPr>
          <p:cNvPr id="14" name="Divisor"/>
          <p:cNvSpPr/>
          <p:nvPr/>
        </p:nvSpPr>
        <p:spPr>
          <a:xfrm>
            <a:off x="1691640" y="4709160"/>
            <a:ext cx="5257800" cy="0"/>
          </a:xfrm>
          <a:prstGeom prst="line">
            <a:avLst/>
          </a:prstGeom>
          <a:noFill/>
          <a:ln w="9525">
            <a:solidFill>
              <a:srgbClr val="D5E2F2"/>
            </a:solidFill>
            <a:prstDash val="solid"/>
          </a:ln>
        </p:spPr>
      </p:sp>
      <p:sp>
        <p:nvSpPr>
          <p:cNvPr id="15" name="Problema 3 (fundo)"/>
          <p:cNvSpPr/>
          <p:nvPr/>
        </p:nvSpPr>
        <p:spPr>
          <a:xfrm>
            <a:off x="548640" y="4892040"/>
            <a:ext cx="868680" cy="868680"/>
          </a:xfrm>
          <a:prstGeom prst="ellipse">
            <a:avLst/>
          </a:prstGeom>
          <a:solidFill>
            <a:schemeClr val="accent4">
              <a:alpha val="12000"/>
            </a:schemeClr>
          </a:solidFill>
          <a:ln/>
        </p:spPr>
      </p:sp>
      <p:pic>
        <p:nvPicPr>
          <p:cNvPr id="16" name="Problema 3 (ícone)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31063" y="5074463"/>
            <a:ext cx="503834" cy="50383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691640" y="4910328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tx2"/>
                </a:solidFill>
              </a:rPr>
              <a:t>RETRABALHO E LEGADO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1691640" y="5257800"/>
            <a:ext cx="5257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Controles paralelos, customizações acumuladas e integrações descontinuadas dificultam a evolução.</a:t>
            </a:r>
            <a:endParaRPr lang="en-US" sz="1400" dirty="0"/>
          </a:p>
        </p:txBody>
      </p:sp>
      <p:sp>
        <p:nvSpPr>
          <p:cNvPr id="19" name="Painel consequências"/>
          <p:cNvSpPr/>
          <p:nvPr/>
        </p:nvSpPr>
        <p:spPr>
          <a:xfrm>
            <a:off x="7452360" y="2148840"/>
            <a:ext cx="4190695" cy="4069080"/>
          </a:xfrm>
          <a:prstGeom prst="roundRect">
            <a:avLst>
              <a:gd name="adj" fmla="val 3596"/>
            </a:avLst>
          </a:prstGeom>
          <a:solidFill>
            <a:schemeClr val="tx2"/>
          </a:solidFill>
          <a:ln/>
          <a:effectLst>
            <a:outerShdw sx="100000" sy="100000" kx="0" ky="0" algn="bl" rotWithShape="0" blurRad="254000" dist="76200" dir="5400000">
              <a:srgbClr val="0A2A5E">
                <a:alpha val="25000"/>
              </a:srgbClr>
            </a:outerShdw>
          </a:effectLst>
        </p:spPr>
      </p:sp>
      <p:sp>
        <p:nvSpPr>
          <p:cNvPr id="20" name="Consequência (fundo)"/>
          <p:cNvSpPr/>
          <p:nvPr/>
        </p:nvSpPr>
        <p:spPr>
          <a:xfrm>
            <a:off x="7818120" y="2532888"/>
            <a:ext cx="777240" cy="7772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1" name="Consequência (ícone)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981340" y="2696108"/>
            <a:ext cx="450799" cy="45079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818120" y="3566160"/>
            <a:ext cx="3459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CONSEQUÊNCIAS PARA A GESTÃO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7818120" y="3931920"/>
            <a:ext cx="34591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Menor capacidade de acompanhar oportunidades, padronizar decisões e planejar resultados com base em informações confiáveis.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9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42062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chemeClr val="accent1"/>
                </a:solidFill>
              </a:rPr>
              <a:t>02 – VALOR PARA A GESTÃO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94944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 que muda na prática</a:t>
            </a:r>
            <a:endParaRPr lang="en-US" sz="3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1371600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O objetivo não é apenas atualizar o sistema: é melhorar a forma de gerir o relacionamento e as oportunidades.</a:t>
            </a:r>
            <a:endParaRPr lang="en-US" sz="1500" dirty="0"/>
          </a:p>
        </p:txBody>
      </p:sp>
      <p:sp>
        <p:nvSpPr>
          <p:cNvPr id="5" name="Benefício 1"/>
          <p:cNvSpPr/>
          <p:nvPr/>
        </p:nvSpPr>
        <p:spPr>
          <a:xfrm>
            <a:off x="548640" y="2148840"/>
            <a:ext cx="2567864" cy="2743200"/>
          </a:xfrm>
          <a:prstGeom prst="roundRect">
            <a:avLst>
              <a:gd name="adj" fmla="val 4985"/>
            </a:avLst>
          </a:prstGeom>
          <a:solidFill>
            <a:schemeClr val="bg1"/>
          </a:solidFill>
          <a:ln w="9525">
            <a:solidFill>
              <a:srgbClr val="DCE7F5"/>
            </a:solidFill>
            <a:prstDash val="solid"/>
          </a:ln>
          <a:effectLst>
            <a:outerShdw sx="100000" sy="100000" kx="0" ky="0" algn="bl" rotWithShape="0" blurRad="203200" dist="50800" dir="5400000">
              <a:srgbClr val="0A2A5E">
                <a:alpha val="10000"/>
              </a:srgbClr>
            </a:outerShdw>
          </a:effectLst>
        </p:spPr>
      </p:sp>
      <p:sp>
        <p:nvSpPr>
          <p:cNvPr id="6" name="Benefício 1 (fundo)"/>
          <p:cNvSpPr/>
          <p:nvPr/>
        </p:nvSpPr>
        <p:spPr>
          <a:xfrm>
            <a:off x="822960" y="2441448"/>
            <a:ext cx="822960" cy="822960"/>
          </a:xfrm>
          <a:prstGeom prst="roundRect">
            <a:avLst>
              <a:gd name="adj" fmla="val 26000"/>
            </a:avLst>
          </a:prstGeom>
          <a:solidFill>
            <a:schemeClr val="accent1"/>
          </a:solidFill>
          <a:ln/>
        </p:spPr>
      </p:sp>
      <p:pic>
        <p:nvPicPr>
          <p:cNvPr id="7" name="Benefício 1 (ícone)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95782" y="2614270"/>
            <a:ext cx="477317" cy="47731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156384" y="242316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C9DCF2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520440"/>
            <a:ext cx="2019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chemeClr val="tx2"/>
                </a:solidFill>
              </a:rPr>
              <a:t>CLIENTE 360º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904488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Contas, contratos, oportunidades e proposta em um só lugar.</a:t>
            </a:r>
            <a:endParaRPr lang="en-US" sz="1400" dirty="0"/>
          </a:p>
        </p:txBody>
      </p:sp>
      <p:sp>
        <p:nvSpPr>
          <p:cNvPr id="11" name="Benefício 2"/>
          <p:cNvSpPr/>
          <p:nvPr/>
        </p:nvSpPr>
        <p:spPr>
          <a:xfrm>
            <a:off x="3390824" y="2148840"/>
            <a:ext cx="2567864" cy="2743200"/>
          </a:xfrm>
          <a:prstGeom prst="roundRect">
            <a:avLst>
              <a:gd name="adj" fmla="val 4985"/>
            </a:avLst>
          </a:prstGeom>
          <a:solidFill>
            <a:schemeClr val="bg1"/>
          </a:solidFill>
          <a:ln w="9525">
            <a:solidFill>
              <a:srgbClr val="DCE7F5"/>
            </a:solidFill>
            <a:prstDash val="solid"/>
          </a:ln>
          <a:effectLst>
            <a:outerShdw sx="100000" sy="100000" kx="0" ky="0" algn="bl" rotWithShape="0" blurRad="203200" dist="50800" dir="5400000">
              <a:srgbClr val="0A2A5E">
                <a:alpha val="10000"/>
              </a:srgbClr>
            </a:outerShdw>
          </a:effectLst>
        </p:spPr>
      </p:sp>
      <p:sp>
        <p:nvSpPr>
          <p:cNvPr id="12" name="Benefício 2 (fundo)"/>
          <p:cNvSpPr/>
          <p:nvPr/>
        </p:nvSpPr>
        <p:spPr>
          <a:xfrm>
            <a:off x="3665144" y="2441448"/>
            <a:ext cx="822960" cy="822960"/>
          </a:xfrm>
          <a:prstGeom prst="roundRect">
            <a:avLst>
              <a:gd name="adj" fmla="val 26000"/>
            </a:avLst>
          </a:prstGeom>
          <a:solidFill>
            <a:schemeClr val="accent1"/>
          </a:solidFill>
          <a:ln/>
        </p:spPr>
      </p:sp>
      <p:pic>
        <p:nvPicPr>
          <p:cNvPr id="13" name="Benefício 2 (ícone)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37965" y="2614270"/>
            <a:ext cx="477317" cy="477317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998568" y="242316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C9DCF2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02</a:t>
            </a:r>
            <a:endParaRPr lang="en-US" sz="2600" dirty="0"/>
          </a:p>
        </p:txBody>
      </p:sp>
      <p:sp>
        <p:nvSpPr>
          <p:cNvPr id="15" name="Text 11"/>
          <p:cNvSpPr txBox="1"/>
          <p:nvPr/>
        </p:nvSpPr>
        <p:spPr>
          <a:xfrm>
            <a:off x="3665144" y="3520440"/>
            <a:ext cx="2019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chemeClr val="tx2"/>
                </a:solidFill>
              </a:rPr>
              <a:t>GOVERNANÇA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3665144" y="3904488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Etapas, responsabilidades e alçadas claras.</a:t>
            </a:r>
            <a:endParaRPr lang="en-US" sz="1400" dirty="0"/>
          </a:p>
        </p:txBody>
      </p:sp>
      <p:sp>
        <p:nvSpPr>
          <p:cNvPr id="17" name="Benefício 3"/>
          <p:cNvSpPr/>
          <p:nvPr/>
        </p:nvSpPr>
        <p:spPr>
          <a:xfrm>
            <a:off x="6233008" y="2148840"/>
            <a:ext cx="2567864" cy="2743200"/>
          </a:xfrm>
          <a:prstGeom prst="roundRect">
            <a:avLst>
              <a:gd name="adj" fmla="val 4985"/>
            </a:avLst>
          </a:prstGeom>
          <a:solidFill>
            <a:schemeClr val="bg1"/>
          </a:solidFill>
          <a:ln w="9525">
            <a:solidFill>
              <a:srgbClr val="DCE7F5"/>
            </a:solidFill>
            <a:prstDash val="solid"/>
          </a:ln>
          <a:effectLst>
            <a:outerShdw sx="100000" sy="100000" kx="0" ky="0" algn="bl" rotWithShape="0" blurRad="203200" dist="50800" dir="5400000">
              <a:srgbClr val="0A2A5E">
                <a:alpha val="10000"/>
              </a:srgbClr>
            </a:outerShdw>
          </a:effectLst>
        </p:spPr>
      </p:sp>
      <p:sp>
        <p:nvSpPr>
          <p:cNvPr id="18" name="Benefício 3 (fundo)"/>
          <p:cNvSpPr/>
          <p:nvPr/>
        </p:nvSpPr>
        <p:spPr>
          <a:xfrm>
            <a:off x="6507328" y="2441448"/>
            <a:ext cx="822960" cy="822960"/>
          </a:xfrm>
          <a:prstGeom prst="roundRect">
            <a:avLst>
              <a:gd name="adj" fmla="val 26000"/>
            </a:avLst>
          </a:prstGeom>
          <a:solidFill>
            <a:schemeClr val="accent1"/>
          </a:solidFill>
          <a:ln/>
        </p:spPr>
      </p:sp>
      <p:pic>
        <p:nvPicPr>
          <p:cNvPr id="19" name="Benefício 3 (ícone)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80149" y="2614270"/>
            <a:ext cx="477317" cy="477317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7840751" y="242316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C9DCF2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03</a:t>
            </a:r>
            <a:endParaRPr lang="en-US" sz="2600" dirty="0"/>
          </a:p>
        </p:txBody>
      </p:sp>
      <p:sp>
        <p:nvSpPr>
          <p:cNvPr id="21" name="Text 16"/>
          <p:cNvSpPr txBox="1"/>
          <p:nvPr/>
        </p:nvSpPr>
        <p:spPr>
          <a:xfrm>
            <a:off x="6507328" y="3520440"/>
            <a:ext cx="2019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chemeClr val="tx2"/>
                </a:solidFill>
              </a:rPr>
              <a:t>DECISÃO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6507328" y="3904488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Metas e previsão de vendas</a:t>
            </a:r>
            <a:endParaRPr lang="en-US" sz="1400" dirty="0"/>
          </a:p>
        </p:txBody>
      </p:sp>
      <p:sp>
        <p:nvSpPr>
          <p:cNvPr id="23" name="Benefício 4"/>
          <p:cNvSpPr/>
          <p:nvPr/>
        </p:nvSpPr>
        <p:spPr>
          <a:xfrm>
            <a:off x="9075191" y="2148840"/>
            <a:ext cx="2567864" cy="2743200"/>
          </a:xfrm>
          <a:prstGeom prst="roundRect">
            <a:avLst>
              <a:gd name="adj" fmla="val 4985"/>
            </a:avLst>
          </a:prstGeom>
          <a:solidFill>
            <a:schemeClr val="bg1"/>
          </a:solidFill>
          <a:ln w="9525">
            <a:solidFill>
              <a:srgbClr val="DCE7F5"/>
            </a:solidFill>
            <a:prstDash val="solid"/>
          </a:ln>
          <a:effectLst>
            <a:outerShdw sx="100000" sy="100000" kx="0" ky="0" algn="bl" rotWithShape="0" blurRad="203200" dist="50800" dir="5400000">
              <a:srgbClr val="0A2A5E">
                <a:alpha val="10000"/>
              </a:srgbClr>
            </a:outerShdw>
          </a:effectLst>
        </p:spPr>
      </p:sp>
      <p:sp>
        <p:nvSpPr>
          <p:cNvPr id="24" name="Benefício 4 (fundo)"/>
          <p:cNvSpPr/>
          <p:nvPr/>
        </p:nvSpPr>
        <p:spPr>
          <a:xfrm>
            <a:off x="9349511" y="2441448"/>
            <a:ext cx="822960" cy="822960"/>
          </a:xfrm>
          <a:prstGeom prst="roundRect">
            <a:avLst>
              <a:gd name="adj" fmla="val 26000"/>
            </a:avLst>
          </a:prstGeom>
          <a:solidFill>
            <a:schemeClr val="accent1"/>
          </a:solidFill>
          <a:ln/>
        </p:spPr>
      </p:sp>
      <p:pic>
        <p:nvPicPr>
          <p:cNvPr id="25" name="Benefício 4 (ícone)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22333" y="2614270"/>
            <a:ext cx="477317" cy="477317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0682935" y="242316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C9DCF2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04</a:t>
            </a:r>
            <a:endParaRPr lang="en-US" sz="2600" dirty="0"/>
          </a:p>
        </p:txBody>
      </p:sp>
      <p:sp>
        <p:nvSpPr>
          <p:cNvPr id="27" name="Text 21"/>
          <p:cNvSpPr txBox="1"/>
          <p:nvPr/>
        </p:nvSpPr>
        <p:spPr>
          <a:xfrm>
            <a:off x="9349511" y="3520440"/>
            <a:ext cx="2019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chemeClr val="tx2"/>
                </a:solidFill>
              </a:rPr>
              <a:t>EFICIÊNCIA</a:t>
            </a:r>
            <a:endParaRPr lang="en-US" sz="1600" dirty="0"/>
          </a:p>
        </p:txBody>
      </p:sp>
      <p:sp>
        <p:nvSpPr>
          <p:cNvPr id="28" name="Text 22"/>
          <p:cNvSpPr txBox="1"/>
          <p:nvPr/>
        </p:nvSpPr>
        <p:spPr>
          <a:xfrm>
            <a:off x="9349511" y="3904488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Menos controles paralelos e tarefas manuais.</a:t>
            </a:r>
            <a:endParaRPr lang="en-US" sz="1400" dirty="0"/>
          </a:p>
        </p:txBody>
      </p:sp>
      <p:sp>
        <p:nvSpPr>
          <p:cNvPr id="29" name="Resultado esperado"/>
          <p:cNvSpPr/>
          <p:nvPr/>
        </p:nvSpPr>
        <p:spPr>
          <a:xfrm>
            <a:off x="548640" y="5175504"/>
            <a:ext cx="11094415" cy="1097280"/>
          </a:xfrm>
          <a:prstGeom prst="roundRect">
            <a:avLst>
              <a:gd name="adj" fmla="val 11667"/>
            </a:avLst>
          </a:prstGeom>
          <a:solidFill>
            <a:schemeClr val="tx2"/>
          </a:solidFill>
          <a:ln/>
          <a:effectLst>
            <a:outerShdw sx="100000" sy="100000" kx="0" ky="0" algn="bl" rotWithShape="0" blurRad="203200" dist="50800" dir="5400000">
              <a:srgbClr val="0A2A5E">
                <a:alpha val="20000"/>
              </a:srgbClr>
            </a:outerShdw>
          </a:effectLst>
        </p:spPr>
      </p:sp>
      <p:sp>
        <p:nvSpPr>
          <p:cNvPr id="30" name="Resultado (fundo)"/>
          <p:cNvSpPr/>
          <p:nvPr/>
        </p:nvSpPr>
        <p:spPr>
          <a:xfrm>
            <a:off x="868680" y="5394960"/>
            <a:ext cx="658368" cy="65836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31" name="Resultado (ícone)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06937" y="5533217"/>
            <a:ext cx="381853" cy="381853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1783080" y="535838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RESULTADO ESPERADO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1783080" y="5632704"/>
            <a:ext cx="96313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Um processo comercial comum, com dados rastreáveis e melhor suporte à decisão.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9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42062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chemeClr val="accent1"/>
                </a:solidFill>
              </a:rPr>
              <a:t>03 – INTEGRAÇÕES E CONTROLE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94944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Sistemas conectados, acessos controlados</a:t>
            </a:r>
            <a:endParaRPr lang="en-US" sz="3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1371600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A proposta prevê rotas nativas Microsoft e camada Azure para integrações específicas.</a:t>
            </a:r>
            <a:endParaRPr lang="en-US" sz="1500" dirty="0"/>
          </a:p>
        </p:txBody>
      </p:sp>
      <p:sp>
        <p:nvSpPr>
          <p:cNvPr id="5" name="Conector"/>
          <p:cNvSpPr/>
          <p:nvPr/>
        </p:nvSpPr>
        <p:spPr>
          <a:xfrm>
            <a:off x="3977640" y="2468880"/>
            <a:ext cx="792328" cy="374904"/>
          </a:xfrm>
          <a:prstGeom prst="line">
            <a:avLst/>
          </a:prstGeom>
          <a:noFill/>
          <a:ln w="19050">
            <a:solidFill>
              <a:srgbClr val="8FB4DE"/>
            </a:solidFill>
            <a:prstDash val="solid"/>
            <a:headEnd type="triangle"/>
            <a:tailEnd type="triangle"/>
          </a:ln>
        </p:spPr>
      </p:sp>
      <p:sp>
        <p:nvSpPr>
          <p:cNvPr id="6" name="Conector"/>
          <p:cNvSpPr/>
          <p:nvPr/>
        </p:nvSpPr>
        <p:spPr>
          <a:xfrm flipV="1">
            <a:off x="3977640" y="3227832"/>
            <a:ext cx="792328" cy="539496"/>
          </a:xfrm>
          <a:prstGeom prst="line">
            <a:avLst/>
          </a:prstGeom>
          <a:noFill/>
          <a:ln w="19050">
            <a:solidFill>
              <a:srgbClr val="8FB4DE"/>
            </a:solidFill>
            <a:prstDash val="solid"/>
            <a:headEnd type="triangle"/>
            <a:tailEnd type="triangle"/>
          </a:ln>
        </p:spPr>
      </p:sp>
      <p:sp>
        <p:nvSpPr>
          <p:cNvPr id="7" name="Conector"/>
          <p:cNvSpPr/>
          <p:nvPr/>
        </p:nvSpPr>
        <p:spPr>
          <a:xfrm flipV="1">
            <a:off x="7421728" y="2468880"/>
            <a:ext cx="792328" cy="374904"/>
          </a:xfrm>
          <a:prstGeom prst="line">
            <a:avLst/>
          </a:prstGeom>
          <a:noFill/>
          <a:ln w="19050">
            <a:solidFill>
              <a:srgbClr val="8FB4DE"/>
            </a:solidFill>
            <a:prstDash val="solid"/>
            <a:tailEnd type="triangle"/>
          </a:ln>
        </p:spPr>
      </p:sp>
      <p:sp>
        <p:nvSpPr>
          <p:cNvPr id="8" name="Conector"/>
          <p:cNvSpPr/>
          <p:nvPr/>
        </p:nvSpPr>
        <p:spPr>
          <a:xfrm>
            <a:off x="7421728" y="3227832"/>
            <a:ext cx="792328" cy="539496"/>
          </a:xfrm>
          <a:prstGeom prst="line">
            <a:avLst/>
          </a:prstGeom>
          <a:noFill/>
          <a:ln w="19050">
            <a:solidFill>
              <a:srgbClr val="8FB4DE"/>
            </a:solidFill>
            <a:prstDash val="solid"/>
            <a:headEnd type="triangle"/>
            <a:tailEnd type="triangle"/>
          </a:ln>
        </p:spPr>
      </p:sp>
      <p:sp>
        <p:nvSpPr>
          <p:cNvPr id="9" name="Conector"/>
          <p:cNvSpPr/>
          <p:nvPr/>
        </p:nvSpPr>
        <p:spPr>
          <a:xfrm>
            <a:off x="6095848" y="3456432"/>
            <a:ext cx="0" cy="292608"/>
          </a:xfrm>
          <a:prstGeom prst="line">
            <a:avLst/>
          </a:prstGeom>
          <a:noFill/>
          <a:ln w="19050">
            <a:solidFill>
              <a:srgbClr val="1E8FE1"/>
            </a:solidFill>
            <a:prstDash val="dash"/>
          </a:ln>
        </p:spPr>
      </p:sp>
      <p:sp>
        <p:nvSpPr>
          <p:cNvPr id="10" name="Halo CRM"/>
          <p:cNvSpPr/>
          <p:nvPr/>
        </p:nvSpPr>
        <p:spPr>
          <a:xfrm>
            <a:off x="4349344" y="2468880"/>
            <a:ext cx="3493008" cy="1133856"/>
          </a:xfrm>
          <a:prstGeom prst="roundRect">
            <a:avLst>
              <a:gd name="adj" fmla="val 50000"/>
            </a:avLst>
          </a:prstGeom>
          <a:solidFill>
            <a:schemeClr val="accent2">
              <a:alpha val="18000"/>
            </a:schemeClr>
          </a:solidFill>
          <a:ln/>
        </p:spPr>
      </p:sp>
      <p:sp>
        <p:nvSpPr>
          <p:cNvPr id="11" name="Dynamics 365 Sales"/>
          <p:cNvSpPr/>
          <p:nvPr/>
        </p:nvSpPr>
        <p:spPr>
          <a:xfrm>
            <a:off x="4495648" y="2615184"/>
            <a:ext cx="3200400" cy="8412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228600" dist="63500" dir="5400000">
              <a:srgbClr val="0A2A5E">
                <a:alpha val="30000"/>
              </a:srgbClr>
            </a:outerShdw>
          </a:effectLst>
        </p:spPr>
      </p:sp>
      <p:sp>
        <p:nvSpPr>
          <p:cNvPr id="12" name="CRM (fundo)"/>
          <p:cNvSpPr/>
          <p:nvPr/>
        </p:nvSpPr>
        <p:spPr>
          <a:xfrm>
            <a:off x="4641952" y="2752344"/>
            <a:ext cx="566928" cy="566928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13" name="CRM (ícone)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1006" y="2871399"/>
            <a:ext cx="328818" cy="328818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5336896" y="2615184"/>
            <a:ext cx="2240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DYNAMICS 365 SALES (CRM)</a:t>
            </a:r>
            <a:endParaRPr lang="en-US" sz="1400" dirty="0"/>
          </a:p>
        </p:txBody>
      </p:sp>
      <p:sp>
        <p:nvSpPr>
          <p:cNvPr id="15" name="Dynamics 365 F&amp;SCM"/>
          <p:cNvSpPr/>
          <p:nvPr/>
        </p:nvSpPr>
        <p:spPr>
          <a:xfrm>
            <a:off x="548640" y="2011680"/>
            <a:ext cx="3429000" cy="914400"/>
          </a:xfrm>
          <a:prstGeom prst="roundRect">
            <a:avLst>
              <a:gd name="adj" fmla="val 14000"/>
            </a:avLst>
          </a:prstGeom>
          <a:solidFill>
            <a:schemeClr val="bg1"/>
          </a:solidFill>
          <a:ln w="9525">
            <a:solidFill>
              <a:srgbClr val="DCE7F5"/>
            </a:solidFill>
            <a:prstDash val="solid"/>
          </a:ln>
          <a:effectLst>
            <a:outerShdw sx="100000" sy="100000" kx="0" ky="0" algn="bl" rotWithShape="0" blurRad="203200" dist="50800" dir="5400000">
              <a:srgbClr val="0A2A5E">
                <a:alpha val="10000"/>
              </a:srgbClr>
            </a:outerShdw>
          </a:effectLst>
        </p:spPr>
      </p:sp>
      <p:sp>
        <p:nvSpPr>
          <p:cNvPr id="16" name="Dynamics 365 F&amp;SCM (fundo)"/>
          <p:cNvSpPr/>
          <p:nvPr/>
        </p:nvSpPr>
        <p:spPr>
          <a:xfrm>
            <a:off x="731520" y="2194560"/>
            <a:ext cx="548640" cy="548640"/>
          </a:xfrm>
          <a:prstGeom prst="roundRect">
            <a:avLst>
              <a:gd name="adj" fmla="val 26000"/>
            </a:avLst>
          </a:prstGeom>
          <a:solidFill>
            <a:schemeClr val="bg2"/>
          </a:solidFill>
          <a:ln/>
        </p:spPr>
      </p:sp>
      <p:pic>
        <p:nvPicPr>
          <p:cNvPr id="17" name="Dynamics 365 F&amp;SCM (ícone)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6734" y="2309774"/>
            <a:ext cx="318211" cy="318211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444752" y="2139696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Dynamics 365 F&amp;SCM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1444752" y="2423160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Contas nos dois sentidos; produtos e preços → CRM</a:t>
            </a:r>
            <a:endParaRPr lang="en-US" sz="1150" dirty="0"/>
          </a:p>
        </p:txBody>
      </p:sp>
      <p:sp>
        <p:nvSpPr>
          <p:cNvPr id="20" name="Outlook + Teams"/>
          <p:cNvSpPr/>
          <p:nvPr/>
        </p:nvSpPr>
        <p:spPr>
          <a:xfrm>
            <a:off x="548640" y="3310128"/>
            <a:ext cx="3429000" cy="914400"/>
          </a:xfrm>
          <a:prstGeom prst="roundRect">
            <a:avLst>
              <a:gd name="adj" fmla="val 14000"/>
            </a:avLst>
          </a:prstGeom>
          <a:solidFill>
            <a:schemeClr val="bg1"/>
          </a:solidFill>
          <a:ln w="9525">
            <a:solidFill>
              <a:srgbClr val="DCE7F5"/>
            </a:solidFill>
            <a:prstDash val="solid"/>
          </a:ln>
          <a:effectLst>
            <a:outerShdw sx="100000" sy="100000" kx="0" ky="0" algn="bl" rotWithShape="0" blurRad="203200" dist="50800" dir="5400000">
              <a:srgbClr val="0A2A5E">
                <a:alpha val="10000"/>
              </a:srgbClr>
            </a:outerShdw>
          </a:effectLst>
        </p:spPr>
      </p:sp>
      <p:sp>
        <p:nvSpPr>
          <p:cNvPr id="21" name="Outlook + Teams (fundo)"/>
          <p:cNvSpPr/>
          <p:nvPr/>
        </p:nvSpPr>
        <p:spPr>
          <a:xfrm>
            <a:off x="731520" y="3493008"/>
            <a:ext cx="548640" cy="548640"/>
          </a:xfrm>
          <a:prstGeom prst="roundRect">
            <a:avLst>
              <a:gd name="adj" fmla="val 26000"/>
            </a:avLst>
          </a:prstGeom>
          <a:solidFill>
            <a:schemeClr val="bg2"/>
          </a:solidFill>
          <a:ln/>
        </p:spPr>
      </p:sp>
      <p:pic>
        <p:nvPicPr>
          <p:cNvPr id="22" name="Outlook + Teams (ícone)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6734" y="3608222"/>
            <a:ext cx="318211" cy="318211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444752" y="3438144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Outlook + Teams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1444752" y="3721608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E-mails, reuniões, aprovações e avisos</a:t>
            </a:r>
            <a:endParaRPr lang="en-US" sz="1150" dirty="0"/>
          </a:p>
        </p:txBody>
      </p:sp>
      <p:sp>
        <p:nvSpPr>
          <p:cNvPr id="25" name="CRM Nacional (CNI)"/>
          <p:cNvSpPr/>
          <p:nvPr/>
        </p:nvSpPr>
        <p:spPr>
          <a:xfrm>
            <a:off x="8214055" y="2011680"/>
            <a:ext cx="3429000" cy="914400"/>
          </a:xfrm>
          <a:prstGeom prst="roundRect">
            <a:avLst>
              <a:gd name="adj" fmla="val 14000"/>
            </a:avLst>
          </a:prstGeom>
          <a:solidFill>
            <a:schemeClr val="bg1"/>
          </a:solidFill>
          <a:ln w="9525">
            <a:solidFill>
              <a:srgbClr val="DCE7F5"/>
            </a:solidFill>
            <a:prstDash val="solid"/>
          </a:ln>
          <a:effectLst>
            <a:outerShdw sx="100000" sy="100000" kx="0" ky="0" algn="bl" rotWithShape="0" blurRad="203200" dist="50800" dir="5400000">
              <a:srgbClr val="0A2A5E">
                <a:alpha val="10000"/>
              </a:srgbClr>
            </a:outerShdw>
          </a:effectLst>
        </p:spPr>
      </p:sp>
      <p:sp>
        <p:nvSpPr>
          <p:cNvPr id="26" name="CRM Nacional (CNI) (fundo)"/>
          <p:cNvSpPr/>
          <p:nvPr/>
        </p:nvSpPr>
        <p:spPr>
          <a:xfrm>
            <a:off x="8396935" y="2194560"/>
            <a:ext cx="548640" cy="548640"/>
          </a:xfrm>
          <a:prstGeom prst="roundRect">
            <a:avLst>
              <a:gd name="adj" fmla="val 26000"/>
            </a:avLst>
          </a:prstGeom>
          <a:solidFill>
            <a:schemeClr val="bg2"/>
          </a:solidFill>
          <a:ln/>
        </p:spPr>
      </p:sp>
      <p:pic>
        <p:nvPicPr>
          <p:cNvPr id="27" name="CRM Nacional (CNI) (ícone)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512150" y="2309774"/>
            <a:ext cx="318211" cy="318211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9110167" y="2139696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CRM Nacional (CNI)</a:t>
            </a:r>
            <a:endParaRPr lang="en-US" sz="1400" dirty="0"/>
          </a:p>
        </p:txBody>
      </p:sp>
      <p:sp>
        <p:nvSpPr>
          <p:cNvPr id="29" name="Text 23"/>
          <p:cNvSpPr txBox="1"/>
          <p:nvPr/>
        </p:nvSpPr>
        <p:spPr>
          <a:xfrm>
            <a:off x="9110167" y="2423160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Envio a cada alteração, rastreio e reprocessamento</a:t>
            </a:r>
            <a:endParaRPr lang="en-US" sz="1150" dirty="0"/>
          </a:p>
        </p:txBody>
      </p:sp>
      <p:sp>
        <p:nvSpPr>
          <p:cNvPr id="30" name="SharePoint"/>
          <p:cNvSpPr/>
          <p:nvPr/>
        </p:nvSpPr>
        <p:spPr>
          <a:xfrm>
            <a:off x="8214055" y="3310128"/>
            <a:ext cx="3429000" cy="914400"/>
          </a:xfrm>
          <a:prstGeom prst="roundRect">
            <a:avLst>
              <a:gd name="adj" fmla="val 14000"/>
            </a:avLst>
          </a:prstGeom>
          <a:solidFill>
            <a:schemeClr val="bg1"/>
          </a:solidFill>
          <a:ln w="9525">
            <a:solidFill>
              <a:srgbClr val="DCE7F5"/>
            </a:solidFill>
            <a:prstDash val="solid"/>
          </a:ln>
          <a:effectLst>
            <a:outerShdw sx="100000" sy="100000" kx="0" ky="0" algn="bl" rotWithShape="0" blurRad="203200" dist="50800" dir="5400000">
              <a:srgbClr val="0A2A5E">
                <a:alpha val="10000"/>
              </a:srgbClr>
            </a:outerShdw>
          </a:effectLst>
        </p:spPr>
      </p:sp>
      <p:sp>
        <p:nvSpPr>
          <p:cNvPr id="31" name="SharePoint (fundo)"/>
          <p:cNvSpPr/>
          <p:nvPr/>
        </p:nvSpPr>
        <p:spPr>
          <a:xfrm>
            <a:off x="8396935" y="3493008"/>
            <a:ext cx="548640" cy="548640"/>
          </a:xfrm>
          <a:prstGeom prst="roundRect">
            <a:avLst>
              <a:gd name="adj" fmla="val 26000"/>
            </a:avLst>
          </a:prstGeom>
          <a:solidFill>
            <a:schemeClr val="bg2"/>
          </a:solidFill>
          <a:ln/>
        </p:spPr>
      </p:sp>
      <p:pic>
        <p:nvPicPr>
          <p:cNvPr id="32" name="SharePoint (ícone)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512150" y="3608222"/>
            <a:ext cx="318211" cy="318211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110167" y="3438144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SharePoint</a:t>
            </a:r>
            <a:endParaRPr lang="en-US" sz="1400" dirty="0"/>
          </a:p>
        </p:txBody>
      </p:sp>
      <p:sp>
        <p:nvSpPr>
          <p:cNvPr id="34" name="Text 27"/>
          <p:cNvSpPr txBox="1"/>
          <p:nvPr/>
        </p:nvSpPr>
        <p:spPr>
          <a:xfrm>
            <a:off x="9110167" y="3721608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Documentos por conta e oportunidade</a:t>
            </a:r>
            <a:endParaRPr lang="en-US" sz="1150" dirty="0"/>
          </a:p>
        </p:txBody>
      </p:sp>
      <p:sp>
        <p:nvSpPr>
          <p:cNvPr id="35" name="Onda 2 · CNPJ"/>
          <p:cNvSpPr/>
          <p:nvPr/>
        </p:nvSpPr>
        <p:spPr>
          <a:xfrm>
            <a:off x="4289908" y="3749040"/>
            <a:ext cx="3611880" cy="841248"/>
          </a:xfrm>
          <a:prstGeom prst="roundRect">
            <a:avLst>
              <a:gd name="adj" fmla="val 15217"/>
            </a:avLst>
          </a:prstGeom>
          <a:solidFill>
            <a:schemeClr val="bg1"/>
          </a:solidFill>
          <a:ln w="15875">
            <a:solidFill>
              <a:schemeClr val="accent2"/>
            </a:solidFill>
            <a:prstDash val="dash"/>
          </a:ln>
        </p:spPr>
      </p:sp>
      <p:sp>
        <p:nvSpPr>
          <p:cNvPr id="36" name="CNPJ (fundo)"/>
          <p:cNvSpPr/>
          <p:nvPr/>
        </p:nvSpPr>
        <p:spPr>
          <a:xfrm>
            <a:off x="4454500" y="3886200"/>
            <a:ext cx="512064" cy="512064"/>
          </a:xfrm>
          <a:prstGeom prst="roundRect">
            <a:avLst>
              <a:gd name="adj" fmla="val 26000"/>
            </a:avLst>
          </a:prstGeom>
          <a:solidFill>
            <a:schemeClr val="accent2">
              <a:alpha val="15000"/>
            </a:schemeClr>
          </a:solidFill>
          <a:ln/>
        </p:spPr>
      </p:sp>
      <p:pic>
        <p:nvPicPr>
          <p:cNvPr id="37" name="CNPJ (ícone)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562033" y="3993733"/>
            <a:ext cx="296997" cy="296997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5112868" y="385876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Onda 2 · Consulta por CNPJ</a:t>
            </a:r>
            <a:endParaRPr lang="en-US" sz="1300" dirty="0"/>
          </a:p>
        </p:txBody>
      </p:sp>
      <p:sp>
        <p:nvSpPr>
          <p:cNvPr id="39" name="Text 31"/>
          <p:cNvSpPr txBox="1"/>
          <p:nvPr/>
        </p:nvSpPr>
        <p:spPr>
          <a:xfrm>
            <a:off x="5112868" y="4151376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Complemento de cadastro de empresas</a:t>
            </a:r>
            <a:endParaRPr lang="en-US" sz="1100" dirty="0"/>
          </a:p>
        </p:txBody>
      </p:sp>
      <p:sp>
        <p:nvSpPr>
          <p:cNvPr id="40" name="Painel segurança"/>
          <p:cNvSpPr/>
          <p:nvPr/>
        </p:nvSpPr>
        <p:spPr>
          <a:xfrm>
            <a:off x="548640" y="4736592"/>
            <a:ext cx="11094415" cy="1554480"/>
          </a:xfrm>
          <a:prstGeom prst="roundRect">
            <a:avLst>
              <a:gd name="adj" fmla="val 8235"/>
            </a:avLst>
          </a:prstGeom>
          <a:solidFill>
            <a:schemeClr val="bg2"/>
          </a:solidFill>
          <a:ln/>
        </p:spPr>
      </p:sp>
      <p:pic>
        <p:nvPicPr>
          <p:cNvPr id="41" name="Escudo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22960" y="4882896"/>
            <a:ext cx="310896" cy="310896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1207008" y="491947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SEGURANÇA E PRIVACIDADE</a:t>
            </a:r>
            <a:endParaRPr lang="en-US" sz="1200" dirty="0"/>
          </a:p>
        </p:txBody>
      </p:sp>
      <p:sp>
        <p:nvSpPr>
          <p:cNvPr id="43" name="Segregação (fundo)"/>
          <p:cNvSpPr/>
          <p:nvPr/>
        </p:nvSpPr>
        <p:spPr>
          <a:xfrm>
            <a:off x="822960" y="5321808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44" name="Segregação (ícone)" descr="preencoded.png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18972" y="5417820"/>
            <a:ext cx="265176" cy="265176"/>
          </a:xfrm>
          <a:prstGeom prst="rect">
            <a:avLst/>
          </a:prstGeom>
        </p:spPr>
      </p:pic>
      <p:sp>
        <p:nvSpPr>
          <p:cNvPr id="45" name="Text 35"/>
          <p:cNvSpPr txBox="1"/>
          <p:nvPr/>
        </p:nvSpPr>
        <p:spPr>
          <a:xfrm>
            <a:off x="1408176" y="5303520"/>
            <a:ext cx="19049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Segregação</a:t>
            </a:r>
            <a:endParaRPr lang="en-US" sz="1300" dirty="0"/>
          </a:p>
        </p:txBody>
      </p:sp>
      <p:sp>
        <p:nvSpPr>
          <p:cNvPr id="46" name="Text 36"/>
          <p:cNvSpPr txBox="1"/>
          <p:nvPr/>
        </p:nvSpPr>
        <p:spPr>
          <a:xfrm>
            <a:off x="1408176" y="5586984"/>
            <a:ext cx="19780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Cada entidade vê e altera seus registros conforme o perfil.</a:t>
            </a:r>
            <a:endParaRPr lang="en-US" sz="1150" dirty="0"/>
          </a:p>
        </p:txBody>
      </p:sp>
      <p:sp>
        <p:nvSpPr>
          <p:cNvPr id="47" name="Perfis e hierarquia (fundo)"/>
          <p:cNvSpPr/>
          <p:nvPr/>
        </p:nvSpPr>
        <p:spPr>
          <a:xfrm>
            <a:off x="3459404" y="5321808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48" name="Perfis e hierarquia (ícone)" descr="preencoded.png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555416" y="5417820"/>
            <a:ext cx="265176" cy="265176"/>
          </a:xfrm>
          <a:prstGeom prst="rect">
            <a:avLst/>
          </a:prstGeom>
        </p:spPr>
      </p:pic>
      <p:sp>
        <p:nvSpPr>
          <p:cNvPr id="49" name="Text 38"/>
          <p:cNvSpPr txBox="1"/>
          <p:nvPr/>
        </p:nvSpPr>
        <p:spPr>
          <a:xfrm>
            <a:off x="4044620" y="5303520"/>
            <a:ext cx="19049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Perfis e hierarquia</a:t>
            </a:r>
            <a:endParaRPr lang="en-US" sz="1300" dirty="0"/>
          </a:p>
        </p:txBody>
      </p:sp>
      <p:sp>
        <p:nvSpPr>
          <p:cNvPr id="50" name="Text 39"/>
          <p:cNvSpPr txBox="1"/>
          <p:nvPr/>
        </p:nvSpPr>
        <p:spPr>
          <a:xfrm>
            <a:off x="4044620" y="5586984"/>
            <a:ext cx="19780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Acesso por função; gestores acompanham suas equipes.</a:t>
            </a:r>
            <a:endParaRPr lang="en-US" sz="1150" dirty="0"/>
          </a:p>
        </p:txBody>
      </p:sp>
      <p:sp>
        <p:nvSpPr>
          <p:cNvPr id="51" name="Campos sensíveis (fundo)"/>
          <p:cNvSpPr/>
          <p:nvPr/>
        </p:nvSpPr>
        <p:spPr>
          <a:xfrm>
            <a:off x="6095848" y="5321808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2" name="Campos sensíveis (ícone)" descr="preencoded.png">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6191860" y="5417820"/>
            <a:ext cx="265176" cy="265176"/>
          </a:xfrm>
          <a:prstGeom prst="rect">
            <a:avLst/>
          </a:prstGeom>
        </p:spPr>
      </p:pic>
      <p:sp>
        <p:nvSpPr>
          <p:cNvPr id="53" name="Text 41"/>
          <p:cNvSpPr txBox="1"/>
          <p:nvPr/>
        </p:nvSpPr>
        <p:spPr>
          <a:xfrm>
            <a:off x="6681064" y="5303520"/>
            <a:ext cx="19049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Campos sensíveis</a:t>
            </a:r>
            <a:endParaRPr lang="en-US" sz="1300" dirty="0"/>
          </a:p>
        </p:txBody>
      </p:sp>
      <p:sp>
        <p:nvSpPr>
          <p:cNvPr id="54" name="Text 42"/>
          <p:cNvSpPr txBox="1"/>
          <p:nvPr/>
        </p:nvSpPr>
        <p:spPr>
          <a:xfrm>
            <a:off x="6681064" y="5586984"/>
            <a:ext cx="19780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Valores e descontos protegidos por perfil.</a:t>
            </a:r>
            <a:endParaRPr lang="en-US" sz="1150" dirty="0"/>
          </a:p>
        </p:txBody>
      </p:sp>
      <p:sp>
        <p:nvSpPr>
          <p:cNvPr id="55" name="Auditoria (fundo)"/>
          <p:cNvSpPr/>
          <p:nvPr/>
        </p:nvSpPr>
        <p:spPr>
          <a:xfrm>
            <a:off x="8732291" y="5321808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6" name="Auditoria (ícone)" descr="preencoded.png">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8828303" y="5417820"/>
            <a:ext cx="265176" cy="265176"/>
          </a:xfrm>
          <a:prstGeom prst="rect">
            <a:avLst/>
          </a:prstGeom>
        </p:spPr>
      </p:pic>
      <p:sp>
        <p:nvSpPr>
          <p:cNvPr id="57" name="Text 44"/>
          <p:cNvSpPr txBox="1"/>
          <p:nvPr/>
        </p:nvSpPr>
        <p:spPr>
          <a:xfrm>
            <a:off x="9317507" y="5303520"/>
            <a:ext cx="19049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Auditoria</a:t>
            </a:r>
            <a:endParaRPr lang="en-US" sz="1300" dirty="0"/>
          </a:p>
        </p:txBody>
      </p:sp>
      <p:sp>
        <p:nvSpPr>
          <p:cNvPr id="58" name="Text 45"/>
          <p:cNvSpPr txBox="1"/>
          <p:nvPr/>
        </p:nvSpPr>
        <p:spPr>
          <a:xfrm>
            <a:off x="9317507" y="5586984"/>
            <a:ext cx="19780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Registro de alterações nas tabelas principais.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9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42062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chemeClr val="accent1"/>
                </a:solidFill>
              </a:rPr>
              <a:t>04 – ENTREGAS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94944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Etapas do projeto de reimplantação</a:t>
            </a:r>
            <a:endParaRPr lang="en-US" sz="3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1371600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Cada etapa tem um propósito, de forma macro</a:t>
            </a:r>
            <a:endParaRPr lang="en-US" sz="1500" dirty="0"/>
          </a:p>
        </p:txBody>
      </p:sp>
      <p:sp>
        <p:nvSpPr>
          <p:cNvPr id="5" name="Barra Onda 1"/>
          <p:cNvSpPr/>
          <p:nvPr/>
        </p:nvSpPr>
        <p:spPr>
          <a:xfrm>
            <a:off x="548640" y="2011680"/>
            <a:ext cx="8987471" cy="713232"/>
          </a:xfrm>
          <a:prstGeom prst="roundRect">
            <a:avLst>
              <a:gd name="adj" fmla="val 17949"/>
            </a:avLst>
          </a:prstGeom>
          <a:solidFill>
            <a:schemeClr val="tx2"/>
          </a:solidFill>
          <a:ln/>
          <a:effectLst>
            <a:outerShdw sx="100000" sy="100000" kx="0" ky="0" algn="bl" rotWithShape="0" blurRad="177800" dist="50800" dir="5400000">
              <a:srgbClr val="0A2A5E">
                <a:alpha val="20000"/>
              </a:srgbClr>
            </a:outerShdw>
          </a:effectLst>
        </p:spPr>
      </p:sp>
      <p:sp>
        <p:nvSpPr>
          <p:cNvPr id="6" name="Onda 1 (fundo)"/>
          <p:cNvSpPr/>
          <p:nvPr/>
        </p:nvSpPr>
        <p:spPr>
          <a:xfrm>
            <a:off x="713232" y="2148840"/>
            <a:ext cx="438912" cy="438912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7" name="Onda 1 (ícone)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5404" y="2241012"/>
            <a:ext cx="254569" cy="254569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98448" y="2011680"/>
            <a:ext cx="4114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Onda 1 – Núcleo Comercial</a:t>
            </a:r>
            <a:endParaRPr lang="en-US" sz="1700" dirty="0"/>
          </a:p>
        </p:txBody>
      </p:sp>
      <p:pic>
        <p:nvPicPr>
          <p:cNvPr id="9" name="Relógio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75591" y="22311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713919" y="2011680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9CFEA"/>
                </a:solidFill>
              </a:rPr>
              <a:t>Previsão de execução  </a:t>
            </a:r>
            <a:pPr algn="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18 semanas ~ 4 meses</a:t>
            </a:r>
            <a:endParaRPr lang="en-US" sz="1300" dirty="0"/>
          </a:p>
        </p:txBody>
      </p:sp>
      <p:sp>
        <p:nvSpPr>
          <p:cNvPr id="11" name="Barra Onda 2"/>
          <p:cNvSpPr/>
          <p:nvPr/>
        </p:nvSpPr>
        <p:spPr>
          <a:xfrm>
            <a:off x="9645839" y="2011680"/>
            <a:ext cx="1997216" cy="713232"/>
          </a:xfrm>
          <a:prstGeom prst="roundRect">
            <a:avLst>
              <a:gd name="adj" fmla="val 17949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177800" dist="50800" dir="5400000">
              <a:srgbClr val="0A2A5E">
                <a:alpha val="20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9782999" y="2011680"/>
            <a:ext cx="1768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Onda 2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4 semanas ~ 1 mês</a:t>
            </a:r>
            <a:endParaRPr lang="en-US" sz="1400" dirty="0"/>
          </a:p>
        </p:txBody>
      </p:sp>
      <p:sp>
        <p:nvSpPr>
          <p:cNvPr id="13" name="Marca"/>
          <p:cNvSpPr/>
          <p:nvPr/>
        </p:nvSpPr>
        <p:spPr>
          <a:xfrm>
            <a:off x="548640" y="2798064"/>
            <a:ext cx="0" cy="109728"/>
          </a:xfrm>
          <a:prstGeom prst="line">
            <a:avLst/>
          </a:prstGeom>
          <a:noFill/>
          <a:ln w="12700">
            <a:solidFill>
              <a:srgbClr val="9DB4D2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48640" y="292608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9AF"/>
                </a:solidFill>
              </a:rPr>
              <a:t>Início</a:t>
            </a:r>
            <a:endParaRPr lang="en-US" sz="1000" dirty="0"/>
          </a:p>
        </p:txBody>
      </p:sp>
      <p:sp>
        <p:nvSpPr>
          <p:cNvPr id="15" name="Marca"/>
          <p:cNvSpPr/>
          <p:nvPr/>
        </p:nvSpPr>
        <p:spPr>
          <a:xfrm>
            <a:off x="9536111" y="2798064"/>
            <a:ext cx="0" cy="109728"/>
          </a:xfrm>
          <a:prstGeom prst="line">
            <a:avLst/>
          </a:prstGeom>
          <a:noFill/>
          <a:ln w="12700">
            <a:solidFill>
              <a:srgbClr val="9DB4D2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438831" y="292608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9AF"/>
                </a:solidFill>
              </a:rPr>
              <a:t>Semana 18</a:t>
            </a:r>
            <a:endParaRPr lang="en-US" sz="1000" dirty="0"/>
          </a:p>
        </p:txBody>
      </p:sp>
      <p:sp>
        <p:nvSpPr>
          <p:cNvPr id="17" name="Marca"/>
          <p:cNvSpPr/>
          <p:nvPr/>
        </p:nvSpPr>
        <p:spPr>
          <a:xfrm>
            <a:off x="11643055" y="2798064"/>
            <a:ext cx="0" cy="109728"/>
          </a:xfrm>
          <a:prstGeom prst="line">
            <a:avLst/>
          </a:prstGeom>
          <a:noFill/>
          <a:ln w="12700">
            <a:solidFill>
              <a:srgbClr val="9DB4D2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0545775" y="292608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9AF"/>
                </a:solidFill>
              </a:rPr>
              <a:t>Semana 22</a:t>
            </a:r>
            <a:endParaRPr lang="en-US" sz="1000" dirty="0"/>
          </a:p>
        </p:txBody>
      </p:sp>
      <p:sp>
        <p:nvSpPr>
          <p:cNvPr id="19" name="Entrega 1 (fundo)"/>
          <p:cNvSpPr/>
          <p:nvPr/>
        </p:nvSpPr>
        <p:spPr>
          <a:xfrm>
            <a:off x="548640" y="3264408"/>
            <a:ext cx="457200" cy="457200"/>
          </a:xfrm>
          <a:prstGeom prst="roundRect">
            <a:avLst>
              <a:gd name="adj" fmla="val 26000"/>
            </a:avLst>
          </a:prstGeom>
          <a:solidFill>
            <a:schemeClr val="bg2"/>
          </a:solidFill>
          <a:ln/>
        </p:spPr>
      </p:sp>
      <p:pic>
        <p:nvPicPr>
          <p:cNvPr id="20" name="Entrega 1 (ícone)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4652" y="3360420"/>
            <a:ext cx="265176" cy="265176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152144" y="3246120"/>
            <a:ext cx="3154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Definição de regras de solução, dados e integrações.</a:t>
            </a:r>
            <a:endParaRPr lang="en-US" sz="1300" dirty="0"/>
          </a:p>
        </p:txBody>
      </p:sp>
      <p:sp>
        <p:nvSpPr>
          <p:cNvPr id="22" name="Entrega 2 (fundo)"/>
          <p:cNvSpPr/>
          <p:nvPr/>
        </p:nvSpPr>
        <p:spPr>
          <a:xfrm>
            <a:off x="548640" y="4023360"/>
            <a:ext cx="457200" cy="457200"/>
          </a:xfrm>
          <a:prstGeom prst="roundRect">
            <a:avLst>
              <a:gd name="adj" fmla="val 26000"/>
            </a:avLst>
          </a:prstGeom>
          <a:solidFill>
            <a:schemeClr val="bg2"/>
          </a:solidFill>
          <a:ln/>
        </p:spPr>
      </p:sp>
      <p:pic>
        <p:nvPicPr>
          <p:cNvPr id="23" name="Entrega 2 (ícone)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4652" y="4119372"/>
            <a:ext cx="265176" cy="265176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152144" y="4005072"/>
            <a:ext cx="3154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Ambientes, segurança e estrutura das 4 entidades, com linhas de solução, casas e centros de custo.</a:t>
            </a:r>
            <a:endParaRPr lang="en-US" sz="1300" dirty="0"/>
          </a:p>
        </p:txBody>
      </p:sp>
      <p:sp>
        <p:nvSpPr>
          <p:cNvPr id="25" name="Entrega 3 (fundo)"/>
          <p:cNvSpPr/>
          <p:nvPr/>
        </p:nvSpPr>
        <p:spPr>
          <a:xfrm>
            <a:off x="548640" y="4782312"/>
            <a:ext cx="457200" cy="457200"/>
          </a:xfrm>
          <a:prstGeom prst="roundRect">
            <a:avLst>
              <a:gd name="adj" fmla="val 26000"/>
            </a:avLst>
          </a:prstGeom>
          <a:solidFill>
            <a:schemeClr val="bg2"/>
          </a:solidFill>
          <a:ln/>
        </p:spPr>
      </p:sp>
      <p:pic>
        <p:nvPicPr>
          <p:cNvPr id="26" name="Entrega 3 (ícone)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44652" y="4878324"/>
            <a:ext cx="265176" cy="26517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4764024"/>
            <a:ext cx="3154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Fluxo guiado de vendas, oportunidade com vários produtos e proposta com modelo.</a:t>
            </a:r>
            <a:endParaRPr lang="en-US" sz="1300" dirty="0"/>
          </a:p>
        </p:txBody>
      </p:sp>
      <p:sp>
        <p:nvSpPr>
          <p:cNvPr id="28" name="Entrega 4 (fundo)"/>
          <p:cNvSpPr/>
          <p:nvPr/>
        </p:nvSpPr>
        <p:spPr>
          <a:xfrm>
            <a:off x="548640" y="5541264"/>
            <a:ext cx="457200" cy="457200"/>
          </a:xfrm>
          <a:prstGeom prst="roundRect">
            <a:avLst>
              <a:gd name="adj" fmla="val 26000"/>
            </a:avLst>
          </a:prstGeom>
          <a:solidFill>
            <a:schemeClr val="bg2"/>
          </a:solidFill>
          <a:ln/>
        </p:spPr>
      </p:sp>
      <p:pic>
        <p:nvPicPr>
          <p:cNvPr id="29" name="Entrega 4 (ícone)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44652" y="5637276"/>
            <a:ext cx="265176" cy="265176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152144" y="5522976"/>
            <a:ext cx="3154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Alçadas de aprovação no Teams e Outlook.</a:t>
            </a:r>
            <a:endParaRPr lang="en-US" sz="1300" dirty="0"/>
          </a:p>
        </p:txBody>
      </p:sp>
      <p:sp>
        <p:nvSpPr>
          <p:cNvPr id="31" name="Entrega 5 (fundo)"/>
          <p:cNvSpPr/>
          <p:nvPr/>
        </p:nvSpPr>
        <p:spPr>
          <a:xfrm>
            <a:off x="4572000" y="3264408"/>
            <a:ext cx="457200" cy="457200"/>
          </a:xfrm>
          <a:prstGeom prst="roundRect">
            <a:avLst>
              <a:gd name="adj" fmla="val 26000"/>
            </a:avLst>
          </a:prstGeom>
          <a:solidFill>
            <a:schemeClr val="bg2"/>
          </a:solidFill>
          <a:ln/>
        </p:spPr>
      </p:sp>
      <p:pic>
        <p:nvPicPr>
          <p:cNvPr id="32" name="Entrega 5 (ícone)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668012" y="3360420"/>
            <a:ext cx="265176" cy="265176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5175504" y="3246120"/>
            <a:ext cx="3154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Alçada de desconto.</a:t>
            </a:r>
            <a:endParaRPr lang="en-US" sz="1300" dirty="0"/>
          </a:p>
        </p:txBody>
      </p:sp>
      <p:sp>
        <p:nvSpPr>
          <p:cNvPr id="34" name="Entrega 6 (fundo)"/>
          <p:cNvSpPr/>
          <p:nvPr/>
        </p:nvSpPr>
        <p:spPr>
          <a:xfrm>
            <a:off x="4572000" y="4023360"/>
            <a:ext cx="457200" cy="457200"/>
          </a:xfrm>
          <a:prstGeom prst="roundRect">
            <a:avLst>
              <a:gd name="adj" fmla="val 26000"/>
            </a:avLst>
          </a:prstGeom>
          <a:solidFill>
            <a:schemeClr val="bg2"/>
          </a:solidFill>
          <a:ln/>
        </p:spPr>
      </p:sp>
      <p:pic>
        <p:nvPicPr>
          <p:cNvPr id="35" name="Entrega 6 (ícone)" descr="preencoded.png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668012" y="4119372"/>
            <a:ext cx="265176" cy="265176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5175504" y="4005072"/>
            <a:ext cx="3154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Visão 360º, metas, previsão e painel de funil no Power BI.</a:t>
            </a:r>
            <a:endParaRPr lang="en-US" sz="1300" dirty="0"/>
          </a:p>
        </p:txBody>
      </p:sp>
      <p:sp>
        <p:nvSpPr>
          <p:cNvPr id="37" name="Entrega 7 (fundo)"/>
          <p:cNvSpPr/>
          <p:nvPr/>
        </p:nvSpPr>
        <p:spPr>
          <a:xfrm>
            <a:off x="4572000" y="4782312"/>
            <a:ext cx="457200" cy="457200"/>
          </a:xfrm>
          <a:prstGeom prst="roundRect">
            <a:avLst>
              <a:gd name="adj" fmla="val 26000"/>
            </a:avLst>
          </a:prstGeom>
          <a:solidFill>
            <a:schemeClr val="bg2"/>
          </a:solidFill>
          <a:ln/>
        </p:spPr>
      </p:sp>
      <p:pic>
        <p:nvPicPr>
          <p:cNvPr id="38" name="Entrega 7 (ícone)" descr="preencoded.png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4668012" y="4878324"/>
            <a:ext cx="265176" cy="26517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5175504" y="4764024"/>
            <a:ext cx="3154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Integração com ERP Dynamics e CRM Nacional.</a:t>
            </a:r>
            <a:endParaRPr lang="en-US" sz="1300" dirty="0"/>
          </a:p>
        </p:txBody>
      </p:sp>
      <p:sp>
        <p:nvSpPr>
          <p:cNvPr id="40" name="Entrega 8 (fundo)"/>
          <p:cNvSpPr/>
          <p:nvPr/>
        </p:nvSpPr>
        <p:spPr>
          <a:xfrm>
            <a:off x="4572000" y="5541264"/>
            <a:ext cx="457200" cy="457200"/>
          </a:xfrm>
          <a:prstGeom prst="roundRect">
            <a:avLst>
              <a:gd name="adj" fmla="val 26000"/>
            </a:avLst>
          </a:prstGeom>
          <a:solidFill>
            <a:schemeClr val="bg2"/>
          </a:solidFill>
          <a:ln/>
        </p:spPr>
      </p:sp>
      <p:pic>
        <p:nvPicPr>
          <p:cNvPr id="41" name="Entrega 8 (ícone)" descr="preencoded.png">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668012" y="5637276"/>
            <a:ext cx="265176" cy="265176"/>
          </a:xfrm>
          <a:prstGeom prst="rect">
            <a:avLst/>
          </a:prstGeom>
        </p:spPr>
      </p:pic>
      <p:sp>
        <p:nvSpPr>
          <p:cNvPr id="42" name="Text 30"/>
          <p:cNvSpPr txBox="1"/>
          <p:nvPr/>
        </p:nvSpPr>
        <p:spPr>
          <a:xfrm>
            <a:off x="5175504" y="5522976"/>
            <a:ext cx="3154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Migração de dados em aberto, testes, treinamento e operação assistida.</a:t>
            </a:r>
            <a:endParaRPr lang="en-US" sz="1300" dirty="0"/>
          </a:p>
        </p:txBody>
      </p:sp>
      <p:sp>
        <p:nvSpPr>
          <p:cNvPr id="43" name="Painel Onda 2"/>
          <p:cNvSpPr/>
          <p:nvPr/>
        </p:nvSpPr>
        <p:spPr>
          <a:xfrm>
            <a:off x="8549640" y="3127248"/>
            <a:ext cx="3093415" cy="3136392"/>
          </a:xfrm>
          <a:prstGeom prst="roundRect">
            <a:avLst>
              <a:gd name="adj" fmla="val 4138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44" name="Text 32"/>
          <p:cNvSpPr txBox="1"/>
          <p:nvPr/>
        </p:nvSpPr>
        <p:spPr>
          <a:xfrm>
            <a:off x="8823960" y="3355848"/>
            <a:ext cx="25447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Onda 2 – Painéis Avançados e CNPJ</a:t>
            </a:r>
            <a:endParaRPr lang="en-US" sz="1500" dirty="0"/>
          </a:p>
        </p:txBody>
      </p:sp>
      <p:sp>
        <p:nvSpPr>
          <p:cNvPr id="45" name="Onda 2 item 1 (fundo)"/>
          <p:cNvSpPr/>
          <p:nvPr/>
        </p:nvSpPr>
        <p:spPr>
          <a:xfrm>
            <a:off x="8823960" y="4151376"/>
            <a:ext cx="457200" cy="457200"/>
          </a:xfrm>
          <a:prstGeom prst="roundRect">
            <a:avLst>
              <a:gd name="adj" fmla="val 26000"/>
            </a:avLst>
          </a:prstGeom>
          <a:solidFill>
            <a:schemeClr val="accent2"/>
          </a:solidFill>
          <a:ln/>
        </p:spPr>
      </p:sp>
      <p:pic>
        <p:nvPicPr>
          <p:cNvPr id="46" name="Onda 2 item 1 (ícone)" descr="preencoded.png">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8919972" y="4247388"/>
            <a:ext cx="265176" cy="265176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9427464" y="4133088"/>
            <a:ext cx="19961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Painéis Avançados de Produtos e Similaridade no Power BI.</a:t>
            </a:r>
            <a:endParaRPr lang="en-US" sz="1300" dirty="0"/>
          </a:p>
        </p:txBody>
      </p:sp>
      <p:sp>
        <p:nvSpPr>
          <p:cNvPr id="48" name="Onda 2 item 2 (fundo)"/>
          <p:cNvSpPr/>
          <p:nvPr/>
        </p:nvSpPr>
        <p:spPr>
          <a:xfrm>
            <a:off x="8823960" y="5138928"/>
            <a:ext cx="457200" cy="457200"/>
          </a:xfrm>
          <a:prstGeom prst="roundRect">
            <a:avLst>
              <a:gd name="adj" fmla="val 26000"/>
            </a:avLst>
          </a:prstGeom>
          <a:solidFill>
            <a:schemeClr val="accent2"/>
          </a:solidFill>
          <a:ln/>
        </p:spPr>
      </p:sp>
      <p:pic>
        <p:nvPicPr>
          <p:cNvPr id="49" name="Onda 2 item 2 (ícone)" descr="preencoded.png">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8919972" y="5234940"/>
            <a:ext cx="265176" cy="265176"/>
          </a:xfrm>
          <a:prstGeom prst="rect">
            <a:avLst/>
          </a:prstGeom>
        </p:spPr>
      </p:pic>
      <p:sp>
        <p:nvSpPr>
          <p:cNvPr id="50" name="Text 36"/>
          <p:cNvSpPr txBox="1"/>
          <p:nvPr/>
        </p:nvSpPr>
        <p:spPr>
          <a:xfrm>
            <a:off x="9427464" y="5120640"/>
            <a:ext cx="19961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Integração para cadastro de Empresas por CNPJ.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9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42062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chemeClr val="accent1"/>
                </a:solidFill>
              </a:rPr>
              <a:t>05 – INVESTIMENTO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94944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Duas alternativas de contratação</a:t>
            </a:r>
            <a:endParaRPr lang="en-US" sz="3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1371600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Modelo Time &amp; Materials: faturamento conforme horas medidas e aprovadas.</a:t>
            </a:r>
            <a:endParaRPr lang="en-US" sz="1500" dirty="0"/>
          </a:p>
        </p:txBody>
      </p:sp>
      <p:sp>
        <p:nvSpPr>
          <p:cNvPr id="5" name="OPÇÃO A · NÚCLEO COMERCIAL"/>
          <p:cNvSpPr/>
          <p:nvPr/>
        </p:nvSpPr>
        <p:spPr>
          <a:xfrm>
            <a:off x="548640" y="2057400"/>
            <a:ext cx="5396332" cy="32004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9525">
            <a:solidFill>
              <a:srgbClr val="DCE7F5"/>
            </a:solidFill>
            <a:prstDash val="solid"/>
          </a:ln>
          <a:effectLst>
            <a:outerShdw sx="100000" sy="100000" kx="0" ky="0" algn="bl" rotWithShape="0" blurRad="203200" dist="50800" dir="5400000">
              <a:srgbClr val="0A2A5E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32688" y="2441448"/>
            <a:ext cx="38418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accent1"/>
                </a:solidFill>
              </a:rPr>
              <a:t>OPÇÃO A · NÚCLEO COMERCIAL</a:t>
            </a:r>
            <a:endParaRPr lang="en-US" sz="1500" dirty="0"/>
          </a:p>
        </p:txBody>
      </p:sp>
      <p:sp>
        <p:nvSpPr>
          <p:cNvPr id="7" name="OPÇÃO A · NÚCLEO COMERCIAL (fundo)"/>
          <p:cNvSpPr/>
          <p:nvPr/>
        </p:nvSpPr>
        <p:spPr>
          <a:xfrm>
            <a:off x="4783684" y="2350008"/>
            <a:ext cx="777240" cy="777240"/>
          </a:xfrm>
          <a:prstGeom prst="roundRect">
            <a:avLst>
              <a:gd name="adj" fmla="val 26000"/>
            </a:avLst>
          </a:prstGeom>
          <a:solidFill>
            <a:schemeClr val="bg2"/>
          </a:solidFill>
          <a:ln/>
        </p:spPr>
      </p:sp>
      <p:pic>
        <p:nvPicPr>
          <p:cNvPr id="8" name="OPÇÃO A · NÚCLEO COMERCIAL (ícone)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46904" y="2513228"/>
            <a:ext cx="450799" cy="450799"/>
          </a:xfrm>
          <a:prstGeom prst="rect">
            <a:avLst/>
          </a:prstGeom>
        </p:spPr>
      </p:pic>
      <p:sp>
        <p:nvSpPr>
          <p:cNvPr id="9" name="Escopo"/>
          <p:cNvSpPr/>
          <p:nvPr/>
        </p:nvSpPr>
        <p:spPr>
          <a:xfrm>
            <a:off x="932688" y="2880360"/>
            <a:ext cx="987552" cy="329184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32688" y="2880360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Onda 1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32688" y="3355848"/>
            <a:ext cx="46282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R$ 378.770,00</a:t>
            </a:r>
            <a:endParaRPr lang="en-US" sz="4200" dirty="0"/>
          </a:p>
        </p:txBody>
      </p:sp>
      <p:sp>
        <p:nvSpPr>
          <p:cNvPr id="12" name="Divisor"/>
          <p:cNvSpPr/>
          <p:nvPr/>
        </p:nvSpPr>
        <p:spPr>
          <a:xfrm>
            <a:off x="932688" y="4507992"/>
            <a:ext cx="4628236" cy="0"/>
          </a:xfrm>
          <a:prstGeom prst="line">
            <a:avLst/>
          </a:prstGeom>
          <a:noFill/>
          <a:ln w="9525">
            <a:solidFill>
              <a:srgbClr val="DCE7F5"/>
            </a:solidFill>
            <a:prstDash val="solid"/>
          </a:ln>
        </p:spPr>
      </p:sp>
      <p:pic>
        <p:nvPicPr>
          <p:cNvPr id="13" name="Horas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2688" y="4690872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408176" y="4663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2.450 horas</a:t>
            </a:r>
            <a:endParaRPr lang="en-US" sz="2000" dirty="0"/>
          </a:p>
        </p:txBody>
      </p:sp>
      <p:sp>
        <p:nvSpPr>
          <p:cNvPr id="15" name="OPÇÃO B · PROJETO COMPLETO"/>
          <p:cNvSpPr/>
          <p:nvPr/>
        </p:nvSpPr>
        <p:spPr>
          <a:xfrm>
            <a:off x="6246724" y="2057400"/>
            <a:ext cx="5396332" cy="3200400"/>
          </a:xfrm>
          <a:prstGeom prst="roundRect">
            <a:avLst>
              <a:gd name="adj" fmla="val 4571"/>
            </a:avLst>
          </a:prstGeom>
          <a:solidFill>
            <a:schemeClr val="tx2"/>
          </a:solidFill>
          <a:ln/>
          <a:effectLst>
            <a:outerShdw sx="100000" sy="100000" kx="0" ky="0" algn="bl" rotWithShape="0" blurRad="279400" dist="76200" dir="5400000">
              <a:srgbClr val="0A2A5E">
                <a:alpha val="28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6630772" y="2441448"/>
            <a:ext cx="38418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accent3"/>
                </a:solidFill>
              </a:rPr>
              <a:t>OPÇÃO B · PROJETO COMPLETO</a:t>
            </a:r>
            <a:endParaRPr lang="en-US" sz="1500" dirty="0"/>
          </a:p>
        </p:txBody>
      </p:sp>
      <p:sp>
        <p:nvSpPr>
          <p:cNvPr id="17" name="OPÇÃO B · PROJETO COMPLETO (fundo)"/>
          <p:cNvSpPr/>
          <p:nvPr/>
        </p:nvSpPr>
        <p:spPr>
          <a:xfrm>
            <a:off x="10481767" y="2350008"/>
            <a:ext cx="777240" cy="777240"/>
          </a:xfrm>
          <a:prstGeom prst="roundRect">
            <a:avLst>
              <a:gd name="adj" fmla="val 26000"/>
            </a:avLst>
          </a:prstGeom>
          <a:solidFill>
            <a:schemeClr val="accent3"/>
          </a:solidFill>
          <a:ln/>
        </p:spPr>
      </p:sp>
      <p:pic>
        <p:nvPicPr>
          <p:cNvPr id="18" name="OPÇÃO B · PROJETO COMPLETO (ícone)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644988" y="2513228"/>
            <a:ext cx="450799" cy="450799"/>
          </a:xfrm>
          <a:prstGeom prst="rect">
            <a:avLst/>
          </a:prstGeom>
        </p:spPr>
      </p:pic>
      <p:sp>
        <p:nvSpPr>
          <p:cNvPr id="19" name="Escopo"/>
          <p:cNvSpPr/>
          <p:nvPr/>
        </p:nvSpPr>
        <p:spPr>
          <a:xfrm>
            <a:off x="6630772" y="2880360"/>
            <a:ext cx="1467612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6630772" y="2880360"/>
            <a:ext cx="14676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Ondas 1 e 2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6630772" y="3355848"/>
            <a:ext cx="46282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dirty="0">
                <a:solidFill>
                  <a:schemeClr val="bg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R$ 415.564,80</a:t>
            </a:r>
            <a:endParaRPr lang="en-US" sz="4200" dirty="0"/>
          </a:p>
        </p:txBody>
      </p:sp>
      <p:sp>
        <p:nvSpPr>
          <p:cNvPr id="22" name="Text 17"/>
          <p:cNvSpPr txBox="1"/>
          <p:nvPr/>
        </p:nvSpPr>
        <p:spPr>
          <a:xfrm>
            <a:off x="6630772" y="4087368"/>
            <a:ext cx="46282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9CFEA"/>
                </a:solidFill>
              </a:rPr>
              <a:t>(R$ 378.770,00 + R$ 36.795,00)</a:t>
            </a:r>
            <a:endParaRPr lang="en-US" sz="1300" dirty="0"/>
          </a:p>
        </p:txBody>
      </p:sp>
      <p:sp>
        <p:nvSpPr>
          <p:cNvPr id="23" name="Divisor"/>
          <p:cNvSpPr/>
          <p:nvPr/>
        </p:nvSpPr>
        <p:spPr>
          <a:xfrm>
            <a:off x="6630772" y="4507992"/>
            <a:ext cx="4628236" cy="0"/>
          </a:xfrm>
          <a:prstGeom prst="line">
            <a:avLst/>
          </a:prstGeom>
          <a:noFill/>
          <a:ln w="9525">
            <a:solidFill>
              <a:srgbClr val="2D4E85"/>
            </a:solidFill>
            <a:prstDash val="solid"/>
          </a:ln>
        </p:spPr>
      </p:sp>
      <p:pic>
        <p:nvPicPr>
          <p:cNvPr id="24" name="Horas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30772" y="4690872"/>
            <a:ext cx="347472" cy="34747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106260" y="4663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2.688 horas</a:t>
            </a:r>
            <a:endParaRPr lang="en-US" sz="2000" dirty="0"/>
          </a:p>
        </p:txBody>
      </p:sp>
      <p:sp>
        <p:nvSpPr>
          <p:cNvPr id="26" name="Text 20"/>
          <p:cNvSpPr txBox="1"/>
          <p:nvPr/>
        </p:nvSpPr>
        <p:spPr>
          <a:xfrm>
            <a:off x="548640" y="574243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6"/>
                </a:solidFill>
              </a:rPr>
              <a:t>COMO FUNCIONA</a:t>
            </a:r>
            <a:endParaRPr lang="en-US" sz="1200" dirty="0"/>
          </a:p>
        </p:txBody>
      </p:sp>
      <p:sp>
        <p:nvSpPr>
          <p:cNvPr id="27" name="Etapa T&amp;M 1"/>
          <p:cNvSpPr/>
          <p:nvPr/>
        </p:nvSpPr>
        <p:spPr>
          <a:xfrm>
            <a:off x="2423160" y="5559552"/>
            <a:ext cx="2743200" cy="64008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8" name="Horas medidas (fundo)"/>
          <p:cNvSpPr/>
          <p:nvPr/>
        </p:nvSpPr>
        <p:spPr>
          <a:xfrm>
            <a:off x="2532888" y="5660136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9" name="Horas medidas (ícone)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625060" y="5752308"/>
            <a:ext cx="254569" cy="254569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3108960" y="5559552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Horas medidas</a:t>
            </a:r>
            <a:endParaRPr lang="en-US" sz="1500" dirty="0"/>
          </a:p>
        </p:txBody>
      </p:sp>
      <p:pic>
        <p:nvPicPr>
          <p:cNvPr id="31" name="Seta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257800" y="5724144"/>
            <a:ext cx="310896" cy="310896"/>
          </a:xfrm>
          <a:prstGeom prst="rect">
            <a:avLst/>
          </a:prstGeom>
        </p:spPr>
      </p:pic>
      <p:sp>
        <p:nvSpPr>
          <p:cNvPr id="32" name="Etapa T&amp;M 2"/>
          <p:cNvSpPr/>
          <p:nvPr/>
        </p:nvSpPr>
        <p:spPr>
          <a:xfrm>
            <a:off x="5669280" y="5559552"/>
            <a:ext cx="2743200" cy="64008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33" name="Horas aprovadas (fundo)"/>
          <p:cNvSpPr/>
          <p:nvPr/>
        </p:nvSpPr>
        <p:spPr>
          <a:xfrm>
            <a:off x="5779008" y="5660136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4" name="Horas aprovadas (ícone)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871180" y="5752308"/>
            <a:ext cx="254569" cy="254569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6355080" y="5559552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Horas aprovadas</a:t>
            </a:r>
            <a:endParaRPr lang="en-US" sz="1500" dirty="0"/>
          </a:p>
        </p:txBody>
      </p:sp>
      <p:pic>
        <p:nvPicPr>
          <p:cNvPr id="36" name="Seta" descr="preencoded.png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503920" y="5724144"/>
            <a:ext cx="310896" cy="310896"/>
          </a:xfrm>
          <a:prstGeom prst="rect">
            <a:avLst/>
          </a:prstGeom>
        </p:spPr>
      </p:pic>
      <p:sp>
        <p:nvSpPr>
          <p:cNvPr id="37" name="Etapa T&amp;M 3"/>
          <p:cNvSpPr/>
          <p:nvPr/>
        </p:nvSpPr>
        <p:spPr>
          <a:xfrm>
            <a:off x="8915400" y="5559552"/>
            <a:ext cx="2743200" cy="64008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38" name="Faturamento (fundo)"/>
          <p:cNvSpPr/>
          <p:nvPr/>
        </p:nvSpPr>
        <p:spPr>
          <a:xfrm>
            <a:off x="9025128" y="5660136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9" name="Faturamento (ícone)" descr="preencoded.png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117300" y="5752308"/>
            <a:ext cx="254569" cy="254569"/>
          </a:xfrm>
          <a:prstGeom prst="rect">
            <a:avLst/>
          </a:prstGeom>
        </p:spPr>
      </p:pic>
      <p:sp>
        <p:nvSpPr>
          <p:cNvPr id="40" name="Text 29"/>
          <p:cNvSpPr txBox="1"/>
          <p:nvPr/>
        </p:nvSpPr>
        <p:spPr>
          <a:xfrm>
            <a:off x="9601200" y="5559552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Faturamento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9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42062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chemeClr val="accent1"/>
                </a:solidFill>
              </a:rPr>
              <a:t>05 – INVESTIMENTO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94944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Rateio por casa</a:t>
            </a:r>
            <a:endParaRPr lang="en-US" sz="3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1371600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Visão geral para apoiar a decisão.</a:t>
            </a:r>
            <a:endParaRPr lang="en-US" sz="1500" dirty="0"/>
          </a:p>
        </p:txBody>
      </p:sp>
      <p:graphicFrame>
        <p:nvGraphicFramePr>
          <p:cNvPr id="5" name="Gráfico rateio" descr=""/>
          <p:cNvGraphicFramePr/>
          <p:nvPr/>
        </p:nvGraphicFramePr>
        <p:xfrm>
          <a:off x="548640" y="2103120"/>
          <a:ext cx="384048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554480" y="354787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100%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41148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33,33% por casa</a:t>
            </a:r>
            <a:endParaRPr lang="en-US" sz="1200" dirty="0"/>
          </a:p>
        </p:txBody>
      </p:sp>
      <p:graphicFrame>
        <p:nvGraphicFramePr>
          <p:cNvPr id="9" name="Tabela rateio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2542032"/>
          <a:ext cx="665957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1499616"/>
                <a:gridCol w="1499616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Casa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411480" marR="91440" marT="0" marB="0" anchor="ctr">
                    <a:lnL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Porcentagem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137160" marT="0" marB="0" anchor="ctr">
                    <a:lnL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OPÇÃO A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137160" marT="0" marB="0" anchor="ctr">
                    <a:lnL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CA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OPÇÃO B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137160" marT="0" marB="0" anchor="ctr">
                    <a:lnL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FE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423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FIEPA (IEL, Observatório, REDES e CIN)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411480" marR="91440" marT="0" marB="0" anchor="ctr">
                    <a:lnL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3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33,33%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137160" marT="0" marB="0" anchor="ctr">
                    <a:lnL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3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R$ 126.256,67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137160" marT="0" marB="0" anchor="ctr">
                    <a:lnL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3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R$ 138.521,60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137160" marT="0" marB="0" anchor="ctr">
                    <a:lnL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423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SESI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411480" marR="91440" marT="0" marB="0" anchor="ctr">
                    <a:lnL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3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33,33%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137160" marT="0" marB="0" anchor="ctr">
                    <a:lnL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3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R$ 126.256,67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137160" marT="0" marB="0" anchor="ctr">
                    <a:lnL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3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R$ 138.521,60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137160" marT="0" marB="0" anchor="ctr">
                    <a:lnL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423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SENAI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411480" marR="91440" marT="0" marB="0" anchor="ctr">
                    <a:lnL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3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33,33%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137160" marT="0" marB="0" anchor="ctr">
                    <a:lnL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3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R$ 126.256,67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137160" marT="0" marB="0" anchor="ctr">
                    <a:lnL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3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R$ 138.521,60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137160" marT="0" marB="0" anchor="ctr">
                    <a:lnL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A2A5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TOTAL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411480" marR="91440" marT="0" marB="0" anchor="ctr">
                    <a:lnL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A2A5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100%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137160" marT="0" marB="0" anchor="ctr">
                    <a:lnL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A2A5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R$ 378.770,00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137160" marT="0" marB="0" anchor="ctr">
                    <a:lnL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A2A5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R$ 415.564,80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137160" marT="0" marB="0" anchor="ctr">
                    <a:lnL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C"/>
                    </a:solidFill>
                  </a:tcPr>
                </a:tc>
              </a:tr>
            </a:tbl>
          </a:graphicData>
        </a:graphic>
      </p:graphicFrame>
      <p:sp>
        <p:nvSpPr>
          <p:cNvPr id="9" name="Legenda FIEPA"/>
          <p:cNvSpPr/>
          <p:nvPr/>
        </p:nvSpPr>
        <p:spPr>
          <a:xfrm>
            <a:off x="5138928" y="3314700"/>
            <a:ext cx="155448" cy="155448"/>
          </a:xfrm>
          <a:prstGeom prst="ellipse">
            <a:avLst/>
          </a:prstGeom>
          <a:solidFill>
            <a:srgbClr val="0A2A5E"/>
          </a:solidFill>
          <a:ln/>
        </p:spPr>
      </p:sp>
      <p:sp>
        <p:nvSpPr>
          <p:cNvPr id="10" name="Legenda SESI"/>
          <p:cNvSpPr/>
          <p:nvPr/>
        </p:nvSpPr>
        <p:spPr>
          <a:xfrm>
            <a:off x="5138928" y="3963924"/>
            <a:ext cx="155448" cy="155448"/>
          </a:xfrm>
          <a:prstGeom prst="ellipse">
            <a:avLst/>
          </a:prstGeom>
          <a:solidFill>
            <a:srgbClr val="0B5CAD"/>
          </a:solidFill>
          <a:ln/>
        </p:spPr>
      </p:sp>
      <p:sp>
        <p:nvSpPr>
          <p:cNvPr id="11" name="Legenda SENAI"/>
          <p:cNvSpPr/>
          <p:nvPr/>
        </p:nvSpPr>
        <p:spPr>
          <a:xfrm>
            <a:off x="5138928" y="4512564"/>
            <a:ext cx="155448" cy="155448"/>
          </a:xfrm>
          <a:prstGeom prst="ellipse">
            <a:avLst/>
          </a:prstGeom>
          <a:solidFill>
            <a:srgbClr val="22C3E6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9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42062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chemeClr val="accent1"/>
                </a:solidFill>
              </a:rPr>
              <a:t>06 – ESCOPO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94944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 que não está incluído</a:t>
            </a:r>
            <a:endParaRPr lang="en-US" sz="3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1371600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Limites da proposta.</a:t>
            </a:r>
            <a:endParaRPr lang="en-US" sz="1500" dirty="0"/>
          </a:p>
        </p:txBody>
      </p:sp>
      <p:sp>
        <p:nvSpPr>
          <p:cNvPr id="5" name="Limite 1"/>
          <p:cNvSpPr/>
          <p:nvPr/>
        </p:nvSpPr>
        <p:spPr>
          <a:xfrm>
            <a:off x="548640" y="2148840"/>
            <a:ext cx="5396332" cy="1901952"/>
          </a:xfrm>
          <a:prstGeom prst="roundRect">
            <a:avLst>
              <a:gd name="adj" fmla="val 6731"/>
            </a:avLst>
          </a:prstGeom>
          <a:solidFill>
            <a:schemeClr val="bg1"/>
          </a:solidFill>
          <a:ln w="9525">
            <a:solidFill>
              <a:srgbClr val="DCE7F5"/>
            </a:solidFill>
            <a:prstDash val="solid"/>
          </a:ln>
          <a:effectLst>
            <a:outerShdw sx="100000" sy="100000" kx="0" ky="0" algn="bl" rotWithShape="0" blurRad="203200" dist="50800" dir="5400000">
              <a:srgbClr val="0A2A5E">
                <a:alpha val="10000"/>
              </a:srgbClr>
            </a:outerShdw>
          </a:effectLst>
        </p:spPr>
      </p:sp>
      <p:sp>
        <p:nvSpPr>
          <p:cNvPr id="6" name="Destaque 1"/>
          <p:cNvSpPr/>
          <p:nvPr/>
        </p:nvSpPr>
        <p:spPr>
          <a:xfrm>
            <a:off x="676656" y="2276856"/>
            <a:ext cx="1600200" cy="1645920"/>
          </a:xfrm>
          <a:prstGeom prst="roundRect">
            <a:avLst>
              <a:gd name="adj" fmla="val 5714"/>
            </a:avLst>
          </a:prstGeom>
          <a:solidFill>
            <a:schemeClr val="accent4">
              <a:alpha val="9000"/>
            </a:schemeClr>
          </a:solidFill>
          <a:ln/>
        </p:spPr>
      </p:sp>
      <p:sp>
        <p:nvSpPr>
          <p:cNvPr id="7" name="Limite 1 (fundo)"/>
          <p:cNvSpPr/>
          <p:nvPr/>
        </p:nvSpPr>
        <p:spPr>
          <a:xfrm>
            <a:off x="1042416" y="2496312"/>
            <a:ext cx="868680" cy="868680"/>
          </a:xfrm>
          <a:prstGeom prst="ellipse">
            <a:avLst/>
          </a:prstGeom>
          <a:solidFill>
            <a:schemeClr val="bg1"/>
          </a:solidFill>
          <a:ln/>
          <a:effectLst>
            <a:outerShdw sx="100000" sy="100000" kx="0" ky="0" algn="bl" rotWithShape="0" blurRad="127000" dist="25400" dir="5400000">
              <a:srgbClr val="0A2A5E">
                <a:alpha val="12000"/>
              </a:srgbClr>
            </a:outerShdw>
          </a:effectLst>
        </p:spPr>
      </p:sp>
      <p:pic>
        <p:nvPicPr>
          <p:cNvPr id="8" name="Limite 1 (ícone)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24839" y="2678735"/>
            <a:ext cx="503834" cy="503834"/>
          </a:xfrm>
          <a:prstGeom prst="rect">
            <a:avLst/>
          </a:prstGeom>
        </p:spPr>
      </p:pic>
      <p:pic>
        <p:nvPicPr>
          <p:cNvPr id="9" name="Não incluído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37360" y="3136392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76656" y="35204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Não incluído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2560320" y="2496312"/>
            <a:ext cx="31103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chemeClr val="accent4"/>
                </a:solidFill>
              </a:rPr>
              <a:t>FORA DO ESCOPO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2560320" y="2825496"/>
            <a:ext cx="31103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Licenças Dynamics 365 e consumo Azure não estão incluídos.</a:t>
            </a:r>
            <a:endParaRPr lang="en-US" sz="1700" dirty="0"/>
          </a:p>
        </p:txBody>
      </p:sp>
      <p:sp>
        <p:nvSpPr>
          <p:cNvPr id="13" name="Limite 2"/>
          <p:cNvSpPr/>
          <p:nvPr/>
        </p:nvSpPr>
        <p:spPr>
          <a:xfrm>
            <a:off x="6246724" y="2148840"/>
            <a:ext cx="5396332" cy="1901952"/>
          </a:xfrm>
          <a:prstGeom prst="roundRect">
            <a:avLst>
              <a:gd name="adj" fmla="val 6731"/>
            </a:avLst>
          </a:prstGeom>
          <a:solidFill>
            <a:schemeClr val="bg1"/>
          </a:solidFill>
          <a:ln w="9525">
            <a:solidFill>
              <a:srgbClr val="DCE7F5"/>
            </a:solidFill>
            <a:prstDash val="solid"/>
          </a:ln>
          <a:effectLst>
            <a:outerShdw sx="100000" sy="100000" kx="0" ky="0" algn="bl" rotWithShape="0" blurRad="203200" dist="50800" dir="5400000">
              <a:srgbClr val="0A2A5E">
                <a:alpha val="10000"/>
              </a:srgbClr>
            </a:outerShdw>
          </a:effectLst>
        </p:spPr>
      </p:sp>
      <p:sp>
        <p:nvSpPr>
          <p:cNvPr id="14" name="Destaque 2"/>
          <p:cNvSpPr/>
          <p:nvPr/>
        </p:nvSpPr>
        <p:spPr>
          <a:xfrm>
            <a:off x="6374740" y="2276856"/>
            <a:ext cx="1600200" cy="1645920"/>
          </a:xfrm>
          <a:prstGeom prst="roundRect">
            <a:avLst>
              <a:gd name="adj" fmla="val 5714"/>
            </a:avLst>
          </a:prstGeom>
          <a:solidFill>
            <a:schemeClr val="accent1">
              <a:alpha val="10000"/>
            </a:schemeClr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374740" y="242316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40</a:t>
            </a:r>
            <a:endParaRPr lang="en-US" sz="5400" dirty="0"/>
          </a:p>
        </p:txBody>
      </p:sp>
      <p:sp>
        <p:nvSpPr>
          <p:cNvPr id="16" name="Text 12"/>
          <p:cNvSpPr txBox="1"/>
          <p:nvPr/>
        </p:nvSpPr>
        <p:spPr>
          <a:xfrm>
            <a:off x="6374740" y="335584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1"/>
                </a:solidFill>
              </a:rPr>
              <a:t>dias úteis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8258404" y="2496312"/>
            <a:ext cx="31103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chemeClr val="accent1"/>
                </a:solidFill>
              </a:rPr>
              <a:t>MOBILIZAÇÃO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8258404" y="2825496"/>
            <a:ext cx="31103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A equipe pode ser mobilizada em até 40 dias úteis após aceite e assinatura.</a:t>
            </a:r>
            <a:endParaRPr lang="en-US" sz="1700" dirty="0"/>
          </a:p>
        </p:txBody>
      </p:sp>
      <p:sp>
        <p:nvSpPr>
          <p:cNvPr id="19" name="Limite 3"/>
          <p:cNvSpPr/>
          <p:nvPr/>
        </p:nvSpPr>
        <p:spPr>
          <a:xfrm>
            <a:off x="548640" y="4325112"/>
            <a:ext cx="5396332" cy="1901952"/>
          </a:xfrm>
          <a:prstGeom prst="roundRect">
            <a:avLst>
              <a:gd name="adj" fmla="val 6731"/>
            </a:avLst>
          </a:prstGeom>
          <a:solidFill>
            <a:schemeClr val="bg1"/>
          </a:solidFill>
          <a:ln w="9525">
            <a:solidFill>
              <a:srgbClr val="DCE7F5"/>
            </a:solidFill>
            <a:prstDash val="solid"/>
          </a:ln>
          <a:effectLst>
            <a:outerShdw sx="100000" sy="100000" kx="0" ky="0" algn="bl" rotWithShape="0" blurRad="203200" dist="50800" dir="5400000">
              <a:srgbClr val="0A2A5E">
                <a:alpha val="10000"/>
              </a:srgbClr>
            </a:outerShdw>
          </a:effectLst>
        </p:spPr>
      </p:sp>
      <p:sp>
        <p:nvSpPr>
          <p:cNvPr id="20" name="Destaque 3"/>
          <p:cNvSpPr/>
          <p:nvPr/>
        </p:nvSpPr>
        <p:spPr>
          <a:xfrm>
            <a:off x="676656" y="4453128"/>
            <a:ext cx="1600200" cy="1645920"/>
          </a:xfrm>
          <a:prstGeom prst="roundRect">
            <a:avLst>
              <a:gd name="adj" fmla="val 5714"/>
            </a:avLst>
          </a:prstGeom>
          <a:solidFill>
            <a:schemeClr val="accent1">
              <a:alpha val="10000"/>
            </a:schemeClr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676656" y="4599432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5</a:t>
            </a:r>
            <a:endParaRPr lang="en-US" sz="5400" dirty="0"/>
          </a:p>
        </p:txBody>
      </p:sp>
      <p:sp>
        <p:nvSpPr>
          <p:cNvPr id="22" name="Text 18"/>
          <p:cNvSpPr txBox="1"/>
          <p:nvPr/>
        </p:nvSpPr>
        <p:spPr>
          <a:xfrm>
            <a:off x="676656" y="55321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1"/>
                </a:solidFill>
              </a:rPr>
              <a:t>dias úteis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2560320" y="4672584"/>
            <a:ext cx="31103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chemeClr val="accent1"/>
                </a:solidFill>
              </a:rPr>
              <a:t>APROVAÇÃO DE HORAS</a:t>
            </a:r>
            <a:endParaRPr lang="en-US" sz="1150" dirty="0"/>
          </a:p>
        </p:txBody>
      </p:sp>
      <p:sp>
        <p:nvSpPr>
          <p:cNvPr id="24" name="Text 20"/>
          <p:cNvSpPr txBox="1"/>
          <p:nvPr/>
        </p:nvSpPr>
        <p:spPr>
          <a:xfrm>
            <a:off x="2560320" y="5001768"/>
            <a:ext cx="31103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Horas medidas mensalmente; a FIEPA tem até 5 dias úteis para aprovar o relatório.</a:t>
            </a:r>
            <a:endParaRPr lang="en-US" sz="1700" dirty="0"/>
          </a:p>
        </p:txBody>
      </p:sp>
      <p:sp>
        <p:nvSpPr>
          <p:cNvPr id="25" name="Limite 4"/>
          <p:cNvSpPr/>
          <p:nvPr/>
        </p:nvSpPr>
        <p:spPr>
          <a:xfrm>
            <a:off x="6246724" y="4325112"/>
            <a:ext cx="5396332" cy="1901952"/>
          </a:xfrm>
          <a:prstGeom prst="roundRect">
            <a:avLst>
              <a:gd name="adj" fmla="val 6731"/>
            </a:avLst>
          </a:prstGeom>
          <a:solidFill>
            <a:schemeClr val="bg1"/>
          </a:solidFill>
          <a:ln w="9525">
            <a:solidFill>
              <a:srgbClr val="DCE7F5"/>
            </a:solidFill>
            <a:prstDash val="solid"/>
          </a:ln>
          <a:effectLst>
            <a:outerShdw sx="100000" sy="100000" kx="0" ky="0" algn="bl" rotWithShape="0" blurRad="203200" dist="50800" dir="5400000">
              <a:srgbClr val="0A2A5E">
                <a:alpha val="10000"/>
              </a:srgbClr>
            </a:outerShdw>
          </a:effectLst>
        </p:spPr>
      </p:sp>
      <p:sp>
        <p:nvSpPr>
          <p:cNvPr id="26" name="Destaque 4"/>
          <p:cNvSpPr/>
          <p:nvPr/>
        </p:nvSpPr>
        <p:spPr>
          <a:xfrm>
            <a:off x="6374740" y="4453128"/>
            <a:ext cx="1600200" cy="1645920"/>
          </a:xfrm>
          <a:prstGeom prst="roundRect">
            <a:avLst>
              <a:gd name="adj" fmla="val 5714"/>
            </a:avLst>
          </a:prstGeom>
          <a:solidFill>
            <a:schemeClr val="accent4">
              <a:alpha val="9000"/>
            </a:schemeClr>
          </a:solidFill>
          <a:ln/>
        </p:spPr>
      </p:sp>
      <p:sp>
        <p:nvSpPr>
          <p:cNvPr id="27" name="Limite 4 (fundo)"/>
          <p:cNvSpPr/>
          <p:nvPr/>
        </p:nvSpPr>
        <p:spPr>
          <a:xfrm>
            <a:off x="6740500" y="4672584"/>
            <a:ext cx="868680" cy="868680"/>
          </a:xfrm>
          <a:prstGeom prst="ellipse">
            <a:avLst/>
          </a:prstGeom>
          <a:solidFill>
            <a:schemeClr val="bg1"/>
          </a:solidFill>
          <a:ln/>
          <a:effectLst>
            <a:outerShdw sx="100000" sy="100000" kx="0" ky="0" algn="bl" rotWithShape="0" blurRad="127000" dist="25400" dir="5400000">
              <a:srgbClr val="0A2A5E">
                <a:alpha val="12000"/>
              </a:srgbClr>
            </a:outerShdw>
          </a:effectLst>
        </p:spPr>
      </p:sp>
      <p:pic>
        <p:nvPicPr>
          <p:cNvPr id="28" name="Limite 4 (ícone)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22922" y="4855007"/>
            <a:ext cx="503834" cy="503834"/>
          </a:xfrm>
          <a:prstGeom prst="rect">
            <a:avLst/>
          </a:prstGeom>
        </p:spPr>
      </p:pic>
      <p:pic>
        <p:nvPicPr>
          <p:cNvPr id="29" name="Não incluído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435444" y="5312664"/>
            <a:ext cx="329184" cy="329184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6374740" y="56967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Não incluído</a:t>
            </a:r>
            <a:endParaRPr lang="en-US" sz="1100" dirty="0"/>
          </a:p>
        </p:txBody>
      </p:sp>
      <p:sp>
        <p:nvSpPr>
          <p:cNvPr id="31" name="Text 25"/>
          <p:cNvSpPr txBox="1"/>
          <p:nvPr/>
        </p:nvSpPr>
        <p:spPr>
          <a:xfrm>
            <a:off x="8258404" y="4672584"/>
            <a:ext cx="31103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chemeClr val="accent4"/>
                </a:solidFill>
              </a:rPr>
              <a:t>FORA DO ESCOPO</a:t>
            </a:r>
            <a:endParaRPr lang="en-US" sz="1150" dirty="0"/>
          </a:p>
        </p:txBody>
      </p:sp>
      <p:sp>
        <p:nvSpPr>
          <p:cNvPr id="32" name="Text 26"/>
          <p:cNvSpPr txBox="1"/>
          <p:nvPr/>
        </p:nvSpPr>
        <p:spPr>
          <a:xfrm>
            <a:off x="8258404" y="5001768"/>
            <a:ext cx="31103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Sustentação após a Onda 2 e integração com WhatsApp não estão incluídas.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9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ilho"/>
          <p:cNvSpPr/>
          <p:nvPr/>
        </p:nvSpPr>
        <p:spPr>
          <a:xfrm>
            <a:off x="7315200" y="1280160"/>
            <a:ext cx="4297680" cy="4297680"/>
          </a:xfrm>
          <a:prstGeom prst="ellipse">
            <a:avLst/>
          </a:prstGeom>
          <a:solidFill>
            <a:schemeClr val="accent3">
              <a:alpha val="7000"/>
            </a:schemeClr>
          </a:solidFill>
          <a:ln/>
        </p:spPr>
      </p:sp>
      <p:sp>
        <p:nvSpPr>
          <p:cNvPr id="3" name="Órbita"/>
          <p:cNvSpPr/>
          <p:nvPr/>
        </p:nvSpPr>
        <p:spPr>
          <a:xfrm>
            <a:off x="7543800" y="1508760"/>
            <a:ext cx="3840480" cy="3840480"/>
          </a:xfrm>
          <a:prstGeom prst="ellipse">
            <a:avLst/>
          </a:prstGeom>
          <a:ln w="12700">
            <a:solidFill>
              <a:srgbClr val="FFFFFF">
                <a:alpha val="28000"/>
              </a:srgbClr>
            </a:solidFill>
            <a:prstDash val="dash"/>
          </a:ln>
        </p:spPr>
      </p:sp>
      <p:sp>
        <p:nvSpPr>
          <p:cNvPr id="4" name="Órbita"/>
          <p:cNvSpPr/>
          <p:nvPr/>
        </p:nvSpPr>
        <p:spPr>
          <a:xfrm>
            <a:off x="8206740" y="2171700"/>
            <a:ext cx="2514600" cy="2514600"/>
          </a:xfrm>
          <a:prstGeom prst="ellipse">
            <a:avLst/>
          </a:prstGeom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5" name="Núcleo CRM"/>
          <p:cNvSpPr/>
          <p:nvPr/>
        </p:nvSpPr>
        <p:spPr>
          <a:xfrm>
            <a:off x="8732520" y="2697480"/>
            <a:ext cx="1463040" cy="146304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254000" dist="50800" dir="5400000">
              <a:srgbClr val="000000">
                <a:alpha val="30000"/>
              </a:srgbClr>
            </a:outerShdw>
          </a:effectLst>
        </p:spPr>
      </p:sp>
      <p:pic>
        <p:nvPicPr>
          <p:cNvPr id="6" name="Núcleo CRM (ícone)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006840" y="2971800"/>
            <a:ext cx="914400" cy="914400"/>
          </a:xfrm>
          <a:prstGeom prst="rect">
            <a:avLst/>
          </a:prstGeom>
        </p:spPr>
      </p:pic>
      <p:sp>
        <p:nvSpPr>
          <p:cNvPr id="7" name="Órbita nó 1 (fundo)"/>
          <p:cNvSpPr/>
          <p:nvPr/>
        </p:nvSpPr>
        <p:spPr>
          <a:xfrm>
            <a:off x="9134856" y="1179576"/>
            <a:ext cx="658368" cy="658368"/>
          </a:xfrm>
          <a:prstGeom prst="ellipse">
            <a:avLst/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000000">
                <a:alpha val="25000"/>
              </a:srgbClr>
            </a:outerShdw>
          </a:effectLst>
        </p:spPr>
      </p:sp>
      <p:pic>
        <p:nvPicPr>
          <p:cNvPr id="8" name="Órbita nó 1 (ícone)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66530" y="1311250"/>
            <a:ext cx="395021" cy="395021"/>
          </a:xfrm>
          <a:prstGeom prst="rect">
            <a:avLst/>
          </a:prstGeom>
        </p:spPr>
      </p:pic>
      <p:sp>
        <p:nvSpPr>
          <p:cNvPr id="9" name="Órbita nó 2 (fundo)"/>
          <p:cNvSpPr/>
          <p:nvPr/>
        </p:nvSpPr>
        <p:spPr>
          <a:xfrm>
            <a:off x="10961113" y="2506429"/>
            <a:ext cx="658368" cy="658368"/>
          </a:xfrm>
          <a:prstGeom prst="ellipse">
            <a:avLst/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000000">
                <a:alpha val="25000"/>
              </a:srgbClr>
            </a:outerShdw>
          </a:effectLst>
        </p:spPr>
      </p:sp>
      <p:pic>
        <p:nvPicPr>
          <p:cNvPr id="10" name="Órbita nó 2 (ícone)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092786" y="2638103"/>
            <a:ext cx="395021" cy="395021"/>
          </a:xfrm>
          <a:prstGeom prst="rect">
            <a:avLst/>
          </a:prstGeom>
        </p:spPr>
      </p:pic>
      <p:sp>
        <p:nvSpPr>
          <p:cNvPr id="11" name="Órbita nó 3 (fundo)"/>
          <p:cNvSpPr/>
          <p:nvPr/>
        </p:nvSpPr>
        <p:spPr>
          <a:xfrm>
            <a:off x="10263545" y="4653323"/>
            <a:ext cx="658368" cy="658368"/>
          </a:xfrm>
          <a:prstGeom prst="ellipse">
            <a:avLst/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000000">
                <a:alpha val="25000"/>
              </a:srgbClr>
            </a:outerShdw>
          </a:effectLst>
        </p:spPr>
      </p:sp>
      <p:pic>
        <p:nvPicPr>
          <p:cNvPr id="12" name="Órbita nó 3 (ícone)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395218" y="4784996"/>
            <a:ext cx="395021" cy="395021"/>
          </a:xfrm>
          <a:prstGeom prst="rect">
            <a:avLst/>
          </a:prstGeom>
        </p:spPr>
      </p:pic>
      <p:sp>
        <p:nvSpPr>
          <p:cNvPr id="13" name="Órbita nó 4 (fundo)"/>
          <p:cNvSpPr/>
          <p:nvPr/>
        </p:nvSpPr>
        <p:spPr>
          <a:xfrm>
            <a:off x="8006167" y="4653323"/>
            <a:ext cx="658368" cy="658368"/>
          </a:xfrm>
          <a:prstGeom prst="ellipse">
            <a:avLst/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000000">
                <a:alpha val="25000"/>
              </a:srgbClr>
            </a:outerShdw>
          </a:effectLst>
        </p:spPr>
      </p:sp>
      <p:pic>
        <p:nvPicPr>
          <p:cNvPr id="14" name="Órbita nó 4 (ícone)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137841" y="4784996"/>
            <a:ext cx="395021" cy="395021"/>
          </a:xfrm>
          <a:prstGeom prst="rect">
            <a:avLst/>
          </a:prstGeom>
        </p:spPr>
      </p:pic>
      <p:sp>
        <p:nvSpPr>
          <p:cNvPr id="15" name="Órbita nó 5 (fundo)"/>
          <p:cNvSpPr/>
          <p:nvPr/>
        </p:nvSpPr>
        <p:spPr>
          <a:xfrm>
            <a:off x="7308599" y="2506429"/>
            <a:ext cx="658368" cy="658368"/>
          </a:xfrm>
          <a:prstGeom prst="ellipse">
            <a:avLst/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000000">
                <a:alpha val="25000"/>
              </a:srgbClr>
            </a:outerShdw>
          </a:effectLst>
        </p:spPr>
      </p:sp>
      <p:pic>
        <p:nvPicPr>
          <p:cNvPr id="16" name="Órbita nó 5 (ícone)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440273" y="2638103"/>
            <a:ext cx="395021" cy="395021"/>
          </a:xfrm>
          <a:prstGeom prst="rect">
            <a:avLst/>
          </a:prstGeom>
        </p:spPr>
      </p:pic>
      <p:sp>
        <p:nvSpPr>
          <p:cNvPr id="17" name="Órbita nó 6 (fundo)"/>
          <p:cNvSpPr/>
          <p:nvPr/>
        </p:nvSpPr>
        <p:spPr>
          <a:xfrm>
            <a:off x="10416916" y="3630422"/>
            <a:ext cx="457200" cy="457200"/>
          </a:xfrm>
          <a:prstGeom prst="ellipse">
            <a:avLst/>
          </a:prstGeom>
          <a:solidFill>
            <a:schemeClr val="accent3"/>
          </a:solidFill>
          <a:ln/>
          <a:effectLst>
            <a:outerShdw sx="100000" sy="100000" kx="0" ky="0" algn="bl" rotWithShape="0" blurRad="127000" dist="38100" dir="5400000">
              <a:srgbClr val="000000">
                <a:alpha val="25000"/>
              </a:srgbClr>
            </a:outerShdw>
          </a:effectLst>
        </p:spPr>
      </p:sp>
      <p:pic>
        <p:nvPicPr>
          <p:cNvPr id="18" name="Órbita nó 6 (ícone)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508356" y="3721862"/>
            <a:ext cx="274320" cy="274320"/>
          </a:xfrm>
          <a:prstGeom prst="rect">
            <a:avLst/>
          </a:prstGeom>
        </p:spPr>
      </p:pic>
      <p:sp>
        <p:nvSpPr>
          <p:cNvPr id="19" name="Órbita nó 7 (fundo)"/>
          <p:cNvSpPr/>
          <p:nvPr/>
        </p:nvSpPr>
        <p:spPr>
          <a:xfrm>
            <a:off x="8053964" y="2770378"/>
            <a:ext cx="457200" cy="457200"/>
          </a:xfrm>
          <a:prstGeom prst="ellipse">
            <a:avLst/>
          </a:prstGeom>
          <a:solidFill>
            <a:schemeClr val="accent3"/>
          </a:solidFill>
          <a:ln/>
          <a:effectLst>
            <a:outerShdw sx="100000" sy="100000" kx="0" ky="0" algn="bl" rotWithShape="0" blurRad="127000" dist="38100" dir="5400000">
              <a:srgbClr val="000000">
                <a:alpha val="25000"/>
              </a:srgbClr>
            </a:outerShdw>
          </a:effectLst>
        </p:spPr>
      </p:sp>
      <p:pic>
        <p:nvPicPr>
          <p:cNvPr id="20" name="Órbita nó 7 (ícone)" descr="preencoded.png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145404" y="2861818"/>
            <a:ext cx="274320" cy="274320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640080" y="2148840"/>
            <a:ext cx="6400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dirty="0">
                <a:solidFill>
                  <a:schemeClr val="bg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Obrigado!</a:t>
            </a:r>
            <a:endParaRPr lang="en-US" sz="7200" dirty="0"/>
          </a:p>
        </p:txBody>
      </p:sp>
      <p:sp>
        <p:nvSpPr>
          <p:cNvPr id="22" name="Text 12"/>
          <p:cNvSpPr txBox="1"/>
          <p:nvPr/>
        </p:nvSpPr>
        <p:spPr>
          <a:xfrm>
            <a:off x="640080" y="34290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Reimplantação CRM Dynamics</a:t>
            </a:r>
            <a:endParaRPr lang="en-US" sz="2400" dirty="0"/>
          </a:p>
        </p:txBody>
      </p:sp>
      <p:sp>
        <p:nvSpPr>
          <p:cNvPr id="23" name="Text 13"/>
          <p:cNvSpPr txBox="1"/>
          <p:nvPr/>
        </p:nvSpPr>
        <p:spPr>
          <a:xfrm>
            <a:off x="640080" y="39319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D7E6F7"/>
                </a:solidFill>
              </a:rPr>
              <a:t>Gestão comercial integrada para o Sistema FIEPA</a:t>
            </a:r>
            <a:endParaRPr lang="en-US" sz="1800" dirty="0"/>
          </a:p>
        </p:txBody>
      </p:sp>
      <p:pic>
        <p:nvPicPr>
          <p:cNvPr id="24" name="Logo FIEPA" descr="assets/logo_white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0080" y="5715000"/>
            <a:ext cx="2194560" cy="3794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FIEPA CRM">
  <a:themeElements>
    <a:clrScheme name="FIEPA CRM">
      <a:dk1>
        <a:srgbClr val="14233D"/>
      </a:dk1>
      <a:lt1>
        <a:srgbClr val="FFFFFF"/>
      </a:lt1>
      <a:dk2>
        <a:srgbClr val="0A2A5E"/>
      </a:dk2>
      <a:lt2>
        <a:srgbClr val="EAF2FC"/>
      </a:lt2>
      <a:accent1>
        <a:srgbClr val="0B5CAD"/>
      </a:accent1>
      <a:accent2>
        <a:srgbClr val="1E8FE1"/>
      </a:accent2>
      <a:accent3>
        <a:srgbClr val="22C3E6"/>
      </a:accent3>
      <a:accent4>
        <a:srgbClr val="E5484D"/>
      </a:accent4>
      <a:accent5>
        <a:srgbClr val="1FA67A"/>
      </a:accent5>
      <a:accent6>
        <a:srgbClr val="5B6B82"/>
      </a:accent6>
      <a:hlink>
        <a:srgbClr val="0B5CAD"/>
      </a:hlink>
      <a:folHlink>
        <a:srgbClr val="5B6B82"/>
      </a:folHlink>
    </a:clrScheme>
    <a:fontScheme name="FIEPA CRM">
      <a:majorFont>
        <a:latin typeface="Segoe UI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FIEPA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Reimplantação CRM Dynamics</dc:title>
  <dc:subject>PptxGenJS Presentation</dc:subject>
  <dc:creator>Sistema FIEPA</dc:creator>
  <cp:lastModifiedBy>Sistema FIEPA</cp:lastModifiedBy>
  <cp:revision>1</cp:revision>
  <dcterms:created xsi:type="dcterms:W3CDTF">2026-10-21T17:51:01Z</dcterms:created>
  <dcterms:modified xsi:type="dcterms:W3CDTF">2026-10-21T17:51:01Z</dcterms:modified>
</cp:coreProperties>
</file>